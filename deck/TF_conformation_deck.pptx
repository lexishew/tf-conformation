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work-in-progress talk. The one-sentence version: DeepPBS predicts a binding-specificity PWM from a single crystal structure — I'm testing whether augmenting training with a conformational ensemble (many plausible structures per complex) helps or hurts, and when. The honest headline is that the effect ranges from significantly harmful to significantly beneficial depending on the TF, and I'll show you the one case that's genuinely encouraging (ETS1) alongside the cautionary counter-case (TBP). Nothing here is proven yet — the decisive controls are running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core tension. Crystallography gives us one structure, but the physics of recognition is about an ensemble and about deformability. A model trained on one snapshot is essentially assuming the bound state is rigid. The pilot study asks: if we generate many plausible conformations of each complex and train on all of them, does the model learn something more transferable? The crucial caveat — which becomes the whole story later — is 'if the ensemble stays near the true bound state.' When it doesn't, augmentation injects noise.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theoretical motivation grounded in the lab's own framework. Shape readout says specificity isn't only about which bases contact which residues — it's about the shape and deformability of the interface. A conformational ensemble is a direct sampling of that deformability. The bet is that showing the model the basin of bound-state conformations teaches it the tolerance envelope. Emphasize: this predicts augmentation helps only when the sampled conformations are genuinely near the bound state — which foreshadows why rigid recognition modules behave differently from floppy 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next scientific direction and directly addresses a gap: we've been treating the DNA as a rigid template. That's a confound and an opportunity. hexABC is the big MD trove but the usable form is the distilled elastic model cgDNA+, which gives sequence-dependent stiffness cheaply. Deep DNAshape is the in-house, low-friction option — it already predicts shape and fluctuations, so we could add flexibility features to the DNA representation and see if the model even responds before investing in physics. The key intellectual point: free-DNA sampling won't reach the strongly bent bound states of TBP or LEF-1, so flexibility should enter as a stiffness prior during joint protein–DNA relaxation, not as a bag of pre-bent conformers.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so everyone's calibrated. DeepPBS maps a complex structure to a PWM. We measure success by comparing the predicted PWM to the experimental one across several complementary metrics — correlation, ranking, discrimination (AUROC), and calibration (Brier). The augmentation question is whether adding conformers to the training set moves these metrics, measured on held-out entries the model never trained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pipeline. Stage 1: BioEmu samples protein conformations, HPacker rebuilds sidechains. Stage 2: each conformer is redocked onto the crystal DNA by Kabsch superposition. Stage 3: OpenMM ramped minimization relaxes each complex, with a recovery pass (3r) for frames that hit NaNs or clashes. Then the fnat gate — the key quality checkpoint — keeps only frames whose interface contacts still match the crystal (fraction of native contacts ≥ 0.5). Passing frames go through preprocessing to npz (Stage 4), get built into augmented training folds (Stage 5), train paired baseline-vs-augmented models (Stage 6), and are evaluated with paired bootstrap CIs and t-tests (Stage 7). The single most important design decision is where that gate sits —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fixes reshaped the results. Fix 1: originally the fnat gate scored un-minimized poses (after Stage 2). That was wrong — it judged frames on a pose the model never trains on, letting clashy frames through and rejecting good ones. Moving the gate to after Stage 3 (commit 93fbbaf) means we score the actual minimized pose. Fix 2: the assembly auto-select patch. Two pilots (ets1, engrailed) have crystal structures with multiple assemblies — ets1 has two biological assemblies, engrailed has a crystal-packing second copy grazing the DNA. The original gate scored against the wrong reference and rejected everything. The patch detects and scores against the bound biological assembly. Both fixes are provably no-ops on the clean single-assembly pilots. We're now running fixed-seed controls.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front half. BioEmu is a generative model of protein conformational ensembles, but it samples the free (unbound) protein. That's the crux: for a rigid recognition module the free-state ensemble stays near the bound pose, so the frames are faithful; for a floppy module the free ensemble wanders far from the bound geometry. HPacker fixes sidechains after backbone sampling. Stage 2 docks by superposing interface atoms onto the crystal DNA — note this is where the rigid-DNA assumption enters. Stage 3 minimization with a ramped restraint prevents blow-ups, and the recovery pass re-does frames that fail.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 half. The fnat gate is the quality filter: it asks whether a minimized frame still makes the crystal's interface contacts. This is the checkpoint that makes the whole thing defensible — it keeps physically implausible frames out. Stage 5 builds the augmented folds. Stage 6 trains baseline and augmented in pairs sharing a seed, so the only difference is the augmentation. Stage 7 evaluates on held-out entries with proper paired statistics. Critical point I'll hammer on the results slides: a high fnat pass-rate tells you frames docked faithfully, NOT that they help the model. TBP passes at 100% and every metric gets worse.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per-residue decomposition of the backbone drift, averaged over each pilot's Stage-3 frames. The universal signature is rigid cores and floppy termini: every pilot has low, flat RMSD through its recognition region and sharp peaks at the N- and C-termini. But the magnitude scales with module type. TBP's beta-saddle is essentially flat at ~1 Angstrom across all 180 residues — extraordinarily rigid. ETS1 and EGR1 cores stay near 1–2 Angstrom. The mobile pilots blow out at the ends: FOXA reaches 17 Angstrom and LEF1 20 Angstrom at their C-terminal tails, which are outside the folded recognition domain. The takeaway for the method: the drift that fails frames is concentrated in disordered terminal regions, not in the DNA-reading core — which is reassuring, because it means the frames that DO pass have faithful recognition geometry.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confound I most want feedback on. We have one PWM per TF, but we're now showing the model ~95 structures per TF all pointing at that one PWM. Two interpretations: optimistically, we're teaching the model the envelope of conformations compatible with a given specificity — which is exactly what shape-readout tolerance means. Pessimistically, if the conformers don't actually correspond to that specificity, we're just adding label noise and up-weighting that TF 95-fold. The decisive experiment — not yet coded — is per-frame PWMs: give each conformer a label consistent with its own shape, so input diversity is matched by target diversity. That single change determines whether the ETS1 gain is real signal or an artifact.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limitations slide. Three confounds. First, rigid DNA and the single-label issue we just discussed. Second, GBSA implicit solvent can over-stabilize and artificially compact the interface — a physics concern in Stage 3. Third, the original runs didn't fix a random seed, so baseline-vs-augmented differences could partly be seed noise; the 5-seed paired re-run now running directly controls this. And a scope boundary: the method is defined for functionally monomeric complexes. Dimers break an assumption, which is exactly why the dux4 case is instructive.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overlays show, per pilot, the crystal bound pose (dark red) with 10 Stage-2 docked (blue) and 10 Stage-3 minimized (green) conformers, on the crystal DNA (orange). The mean Cα deviation from crystal ranks the pilots by rigidity: TBP 1.33 Å and ETS1 1.50 Å are tightest — their recognition modules (the TATA-binding saddle, the ETS winged-HTH) barely move. EGR1 (zinc-finger) sits at 2.75 Å. LEF-1 (HMG-box) is the extreme at 5.97 Å with outliers past 18 Å — the HMG box is intrinsically mobile in the free state, so BioEmu wanders. This drift ranking cleanly explains the fnat pass-rates: rigid modules keep frames near the bound pose so they pass the gate; floppy ones don't. But — and this is the pivotal caveat — drift does NOT predict whether augmentation helps.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quantifies the fnat gate across all six pilots on real per-state data. Each violin is the distribution of fraction-of-native-contacts for that pilot's minimized frames; points are colored green if they pass the 0.5 floor, rose if they fail; the percentage is the pass-rate. The ordering is the rigidity gradient again: ETS1 and TBP sit entirely above the floor (100% pass), EGR1 and engrailed at 91%, FOXA at 75%, and LEF1 collapses — median below the floor, only 19% pass. This is the front-line evidence that the gate is doing real work: it's keeping essentially all of the rigid-module frames and rejecting most of the floppy HMG-box frames. Pair this with the interface-RMSD analysis — fnat and iRMSD co-vary at Spearman −0.84, so the two criteria agree on which frames are faithful.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structural intuition behind the gate. Both panels overlay the crystal bound pose (grey) on the DNA (orange), with each pilot's best-fnat frame in teal and worst-fnat frame in rose. Left, ETS1: even the worst frame (fnat 0.61) hugs the crystal — the winged-HTH recognition module is rigid, so every BioEmu frame lands near the bound pose, and all of them pass. Right, LEF1: the best frame (teal, fnat 0.71) tracks the crystal reasonably, but the worst frame (rose, fnat 0.12) has its entire N-terminal helix swung up and off the DNA. That's what an 81%-rejection pilot looks like: the HMG-box is intrinsically mobile in the free state, so BioEmu samples conformations that simply don't sit in the minor groove anymore. The gate catches exactly these. This is the picture to keep in mind when we say 'drift tracks fnat yield.'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result. Three pilots have TF-specific held-out PWM tests: TBP, EGR1, ETS1. Bars are the augmentation effect on 5 held-out entries, oriented so positive always means augmentation improved that metric; stars mark significance. ETS1 (blue): uniformly positive, all significant — augmentation genuinely helps. TBP (red): uniformly negative, all significant — augmentation genuinely hurts. EGR1 (amber): mixed — AUROC and Pearson up, but rank-based ICs down. Now the punchline: TBP and ETS1 are the TWO most rigid pilots, near-identical drift (1.33 vs 1.50 Å), both 100% fnat pass — yet OPPOSITE outcomes. So the thing that determines benefit is NOT how faithfully the frames dock. My earlier hypothesis that drift predicts the sign was wrong; I retracted it. What actually distinguishes helpful from harmful augmentation is the open question this project now turns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most biologically legible view — predicted PWM logos, experimental truth on top, baseline model middle, augmented bottom. ETS1: the experimental motif has the canonical ETS core with the TTCC. The baseline model predicts a mis-registered, over-flat motif (CACAT…). The augmented model recovers the correct C-C…TTCC core and sharpens it — Pearson to the experimental PWM jumps from +0.64 to +0.89. This is the single most encouraging piece of evidence: the conformational ensemble taught the model the right biology for a case where the recognition helix is rigid and the frames are faithful.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cautionary counter-case. TBP's experimental motif is the TATA-box A-tract. The baseline model already predicts it almost perfectly, r +0.94. Augmentation makes it WORSE — the augmented logo introduces spurious T's and drops to r +0.54. Same rigidity as ETS1, same 100% fnat pass-rate, opposite result. Why? My working hypothesis: TBP's baseline is already near-perfect, so there's no headroom — and TBP deforms its DNA enormously (an ~80–90° kink) while our pipeline carries the DNA rigidly, so the augmented frames may encode DNA geometry inconsistent with the specificity label. This is the case that keeps me honest about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EGR1 is the honest middle. The zinc-finger GC-rich site: augmentation raises the correlation to experiment (+0.74 to +0.81 on this entry) and the AUROC improves significantly, but the rank-based IC metrics degrade — the position ordering gets reshuffled. So it 'helps' on discrimination and calibration but 'hurts' on fine rank structure. This is why I'm presenting a gradient, not a verdict: the effect is real but metric-dependent, and understanding why EGR1 splits this way is part of the open question.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key result, orientation on where the pilots sit in TF sequence space. Each pilot is a different Pfam DNA-binding-domain family — ETS, TBP's beta-saddle, C2H2 zinc-finger, homeodomain, forkhead, HMG-box — spanning the major structural modes of DNA recognition: major-groove helical readout, minor-groove insertion, and minor-groove bending. The table ties together everything: family, recognition mode, drift, fnat pass-rate, and augmentation effect. The pattern to notice is that the augmentation effect does NOT line up with drift or pass-rate — TBP and ETS1 are both rigid, 100%-pass, but one is helped and one hurt. Family assignments come from RCSB PDB Pfam annotations, which lets us extend this beyond the six pilots to the whole benchmark,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go beyond the six pilots to the full general-130 benchmark, annotated by family via RCSB Pfam. This shows the BASELINE model's accuracy — before any augmentation — grouped by family, averaged over the pilot models. It's a characterization of which families DeepPBS already reads well from a single structure. p53-like and homeodomain are easiest, around 0.72 Pearson; the C2H2 zinc-fingers are middling and highly variable; ETS and bZIP are the hardest, down around 0.48–0.54. This matters for interpreting the augmentation effect: a family with a weak baseline has headroom to improve, while a family the model already nails has little room and more risk of being disturbed. Keep ETS's low baseline in mind for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family-level view of the augmentation effect, and it needs an honest caveat up front: family is assigned at the MOTIF level (each benchmark entry inherits the family of the TF whose PWM it evaluates), which matters because several ETS1 benchmark entries come from ETS1–RUNX1 co-crystals — assigning family from the crystal's first chain would misfile them as Runt. With that fixed: for each family I computed augmented-minus-baseline per entry, averaged over pilot models. ETS has the strongest positive median (+0.042 Pearson, n=10) and is the best-represented positive family, with 60% of its entries improving and the largest gains on the low-baseline ERG paralogs (0.35→0.51). IRF is also net-positive but only n=4. Every other family is net-negative — TBP (correctly in its own bucket now) and bHLH worst. So the honest statement is NOT 'ETS is the only family helped' — it's 'ETS is the family augmentation helps most, and the ETS1 pilot's gain is echoed by its ETS paralogs rather than being one structure.' Both positive families are small-n and single-seed, so this is a lead to test, not a settled result. The mechanistic reading the user raised — induced-fit vs conformational-selection families — is exactly the right frame for WHY ETS behaves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dux4 is the intentional failure case — a scope probe. DUX4 binds as a cooperative dimer, but our sampling generates a single isolated monomer, which BioEmu samples far from the partner-stabilized bound conformation. So we expect the docked frames to be poor and augmentation to hurt, or the fnat gate to reject most of them outright. I launched the full pipeline as an explicit negative control; the numbers are folding in. The value isn't a bad bar chart — it's that this defines where the method applies. A cooperative dimer needs a sampling model that includes the partner, which is a different project. NOTE: update this slide with the actual dux4 eval outcome once the job lands.</a:t>
            </a:r>
          </a:p>
          <a:p/>
          <a:p>
            <a:r>
              <a:t>STATUS: dux4 full-pipeline trial submitted and queued (jobs 4563941–4563949); Stage-1 not yet started at deck build (queue backlog). Update with observed fnat pass-rate + metrics once id_benchmark_dux4.json lands.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goes next, in priority order. First, the 5-seed re-run finishes the seed control — it's running now and will tell us how much of each effect survives seed averaging. Second, and most important, per-frame PWMs: this is the experiment that decides whether ETS1's gain is genuine. Third, DNA flexibility via cgDNA+ as a stiffness prior and Deep DNAshape features — with a cheap upfront analysis projecting each crystal DNA onto the free-DNA ground state to quantify how far the bound state sits from equilibrium, which tells us which pilots even need flexible DNA. These are concrete, mostly scoped, and the first two are close.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planned comparison, not yet run. AF3 gives 5 ranked predictions per complex. Two uses: first, compare the conformational spread — does AF3's uncertainty over the complex agree with BioEmu's ensemble and with where the crystal sits? Second, an orthogonal reasonableness check on our augmented frames. If AF3 and BioEmu agree on the bound basin for the rigid pilots but diverge for the floppy ones, that's independent support for the drift story. Flagging clearly: this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We have a working, quality-gated augmentation pipeline. Across six monomeric pilots the effect is genuinely mixed — significantly harmful for TBP, mixed for EGR1, significantly beneficial for ETS1. A family-level view (motif-level assignment) sharpens the story: ETS is the family augmentation helps most — its gain is echoed by ERG/FLI1 paralogs, not confined to one structure — while most families are net-harmed. Both net-positive families (ETS, IRF) are small-n and single-seed, so this is a lead to test. The clean negative finding is that conformer drift, which we can measure, explains how many frames pass the gate but not whether augmentation helps — the two most rigid pilots have opposite outcomes. The PWM logos make the biology concrete. And the project now turns on two decisive controls that are running or scoped: the 5-seed seed-control and per-frame PWMs. The DNA-flexibility direction is the bigger scientific opportunity beyond that. I'd especially like feedback on the per-frame-PWM design and whether the ETS1 gain will survive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1FB"/>
        </a:solidFill>
        <a:effectLst/>
      </p:bgPr>
    </p:bg>
    <p:spTree>
      <p:nvGrpSpPr>
        <p:cNvPr id="1" name=""/>
        <p:cNvGrpSpPr/>
        <p:nvPr/>
      </p:nvGrpSpPr>
      <p:grpSpPr/>
      <p:sp>
        <p:nvSpPr>
          <p:cNvPr id="2" name="TextBox 1"/>
          <p:cNvSpPr txBox="1"/>
          <p:nvPr/>
        </p:nvSpPr>
        <p:spPr>
          <a:xfrm>
            <a:off x="731520" y="2194560"/>
            <a:ext cx="10698480" cy="1645920"/>
          </a:xfrm>
          <a:prstGeom prst="rect">
            <a:avLst/>
          </a:prstGeom>
          <a:noFill/>
        </p:spPr>
        <p:txBody>
          <a:bodyPr wrap="square">
            <a:spAutoFit/>
          </a:bodyPr>
          <a:lstStyle/>
          <a:p>
            <a:pPr algn="ctr"/>
            <a:r>
              <a:rPr sz="4000" b="1">
                <a:solidFill>
                  <a:srgbClr val="33333A"/>
                </a:solidFill>
              </a:rPr>
              <a:t>Conformational augmentation of DeepPBS</a:t>
            </a:r>
          </a:p>
        </p:txBody>
      </p:sp>
      <p:sp>
        <p:nvSpPr>
          <p:cNvPr id="3" name="Rectangle 2"/>
          <p:cNvSpPr/>
          <p:nvPr/>
        </p:nvSpPr>
        <p:spPr>
          <a:xfrm>
            <a:off x="4727448" y="3977639"/>
            <a:ext cx="2743200" cy="508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206240"/>
            <a:ext cx="9966960" cy="1645920"/>
          </a:xfrm>
          <a:prstGeom prst="rect">
            <a:avLst/>
          </a:prstGeom>
          <a:noFill/>
        </p:spPr>
        <p:txBody>
          <a:bodyPr wrap="square">
            <a:spAutoFit/>
          </a:bodyPr>
          <a:lstStyle/>
          <a:p>
            <a:pPr algn="ctr"/>
            <a:r>
              <a:rPr sz="1700">
                <a:solidFill>
                  <a:srgbClr val="7B68C4"/>
                </a:solidFill>
              </a:rPr>
              <a:t>Do BioEmu structure ensembles teach a structure→specificity model new biology?</a:t>
            </a:r>
          </a:p>
          <a:p>
            <a:pPr algn="ctr"/>
            <a:r>
              <a:rPr sz="1700">
                <a:solidFill>
                  <a:srgbClr val="7B68C4"/>
                </a:solidFill>
              </a:rPr>
              <a:t>Six-pilot study · Rohs Lab · group meeting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Why protein conformation makes this hard</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A crystal structure is ONE snapshot — a single low-energy pose, frozen, often at non-physiological conditions.</a:t>
            </a:r>
          </a:p>
          <a:p>
            <a:pPr>
              <a:lnSpc>
                <a:spcPct val="108000"/>
              </a:lnSpc>
              <a:spcAft>
                <a:spcPts val="1400"/>
              </a:spcAft>
            </a:pPr>
            <a:r>
              <a:rPr sz="1800">
                <a:solidFill>
                  <a:srgbClr val="33333A"/>
                </a:solidFill>
                <a:latin typeface="Calibri"/>
              </a:rPr>
              <a:t>•  But TF–DNA recognition is dynamic: the bound state is an ensemble, and specificity comes partly from which conformations a sequence can be read out by.</a:t>
            </a:r>
          </a:p>
          <a:p>
            <a:pPr>
              <a:lnSpc>
                <a:spcPct val="108000"/>
              </a:lnSpc>
              <a:spcAft>
                <a:spcPts val="1400"/>
              </a:spcAft>
            </a:pPr>
            <a:r>
              <a:rPr sz="1800">
                <a:solidFill>
                  <a:srgbClr val="33333A"/>
                </a:solidFill>
                <a:latin typeface="Calibri"/>
              </a:rPr>
              <a:t>•  DeepPBS learns structure → PWM from that single snapshot. It never sees the conformational flexibility that underlies binding.</a:t>
            </a:r>
          </a:p>
          <a:p>
            <a:pPr>
              <a:lnSpc>
                <a:spcPct val="108000"/>
              </a:lnSpc>
              <a:spcAft>
                <a:spcPts val="1400"/>
              </a:spcAft>
            </a:pPr>
            <a:r>
              <a:rPr sz="1800">
                <a:solidFill>
                  <a:srgbClr val="33333A"/>
                </a:solidFill>
                <a:latin typeface="Calibri"/>
              </a:rPr>
              <a:t>•  Hypothesis: feeding the model a realistic ensemble of bound-state conformers should expose information a single structure can't — IF the ensemble stays near the true bound state.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The theory: shape readout and why an ensemble should help</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Indirect (shape) readout: specificity depends on DNA shape and on the deformation energetics of the protein–DNA interface — not just base contacts.</a:t>
            </a:r>
          </a:p>
          <a:p>
            <a:pPr>
              <a:lnSpc>
                <a:spcPct val="108000"/>
              </a:lnSpc>
              <a:spcAft>
                <a:spcPts val="1400"/>
              </a:spcAft>
            </a:pPr>
            <a:r>
              <a:rPr sz="1800">
                <a:solidFill>
                  <a:srgbClr val="33333A"/>
                </a:solidFill>
                <a:latin typeface="Calibri"/>
              </a:rPr>
              <a:t>•  A single structure captures one point on that energy landscape; an ensemble samples the local basin around the bound state.</a:t>
            </a:r>
          </a:p>
          <a:p>
            <a:pPr>
              <a:lnSpc>
                <a:spcPct val="108000"/>
              </a:lnSpc>
              <a:spcAft>
                <a:spcPts val="1400"/>
              </a:spcAft>
            </a:pPr>
            <a:r>
              <a:rPr sz="1800">
                <a:solidFill>
                  <a:srgbClr val="33333A"/>
                </a:solidFill>
                <a:latin typeface="Calibri"/>
              </a:rPr>
              <a:t>•  If augmentation frames are faithful, the model sees the range of conformations consistent with binding → better-calibrated specificity.</a:t>
            </a:r>
          </a:p>
          <a:p>
            <a:pPr>
              <a:lnSpc>
                <a:spcPct val="108000"/>
              </a:lnSpc>
              <a:spcAft>
                <a:spcPts val="1400"/>
              </a:spcAft>
            </a:pPr>
            <a:r>
              <a:rPr sz="1800">
                <a:solidFill>
                  <a:srgbClr val="33333A"/>
                </a:solidFill>
                <a:latin typeface="Calibri"/>
              </a:rPr>
              <a:t>•  This is the Rohs-lab shape framework applied to the protein side: conformational tolerance IS part of what defines specificity.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The other half: DNA is not rigid either</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Our pipeline currently carries crystal DNA RIGIDLY through docking and minimization — every augmented frame of a TF shares ONE DNA conformation.</a:t>
            </a:r>
          </a:p>
          <a:p>
            <a:pPr>
              <a:lnSpc>
                <a:spcPct val="108000"/>
              </a:lnSpc>
              <a:spcAft>
                <a:spcPts val="1400"/>
              </a:spcAft>
            </a:pPr>
            <a:r>
              <a:rPr sz="1800">
                <a:solidFill>
                  <a:srgbClr val="33333A"/>
                </a:solidFill>
                <a:latin typeface="Calibri"/>
              </a:rPr>
              <a:t>•  But DNA deformability is sequence-dependent, and shape readout is precisely about which sequences bend into the bound geometry cheaply.</a:t>
            </a:r>
          </a:p>
          <a:p>
            <a:pPr>
              <a:lnSpc>
                <a:spcPct val="108000"/>
              </a:lnSpc>
              <a:spcAft>
                <a:spcPts val="1400"/>
              </a:spcAft>
            </a:pPr>
            <a:r>
              <a:rPr sz="1800">
                <a:solidFill>
                  <a:srgbClr val="33333A"/>
                </a:solidFill>
                <a:latin typeface="Calibri"/>
              </a:rPr>
              <a:t>•  hexABC (2080 hexamers, ~0.25 PB of MD) characterizes free-DNA stiffness — best accessed distilled via cgDNA+/cgNA+, not as raw trajectories.</a:t>
            </a:r>
          </a:p>
          <a:p>
            <a:pPr>
              <a:lnSpc>
                <a:spcPct val="108000"/>
              </a:lnSpc>
              <a:spcAft>
                <a:spcPts val="1400"/>
              </a:spcAft>
            </a:pPr>
            <a:r>
              <a:rPr sz="1800">
                <a:solidFill>
                  <a:srgbClr val="33333A"/>
                </a:solidFill>
                <a:latin typeface="Calibri"/>
              </a:rPr>
              <a:t>•  Deep DNAshape (Li/Chiu/Rohs, in-house) predicts shape AND fluctuations from k-mer context — lowest-friction way to add per-bp flexibility channels to DeepPBS.</a:t>
            </a:r>
          </a:p>
          <a:p>
            <a:pPr>
              <a:lnSpc>
                <a:spcPct val="108000"/>
              </a:lnSpc>
              <a:spcAft>
                <a:spcPts val="1400"/>
              </a:spcAft>
            </a:pPr>
            <a:r>
              <a:rPr sz="1800">
                <a:solidFill>
                  <a:srgbClr val="33333A"/>
                </a:solidFill>
                <a:latin typeface="Calibri"/>
              </a:rPr>
              <a:t>•  Caveat: free-DNA MD won't reach protein-induced bends (TBP ~80–90°, LEF-1 ~110–120°) — use stiffness as a PRIOR in joint relaxation, not as a conformer 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DeepPBS in one slide</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Input: a protein–DNA complex structure (geometry + chemical features of the interface).</a:t>
            </a:r>
          </a:p>
          <a:p>
            <a:pPr>
              <a:lnSpc>
                <a:spcPct val="108000"/>
              </a:lnSpc>
              <a:spcAft>
                <a:spcPts val="1400"/>
              </a:spcAft>
            </a:pPr>
            <a:r>
              <a:rPr sz="1800">
                <a:solidFill>
                  <a:srgbClr val="33333A"/>
                </a:solidFill>
                <a:latin typeface="Calibri"/>
              </a:rPr>
              <a:t>•  Output: a predicted position weight matrix (PWM) — the binding specificity.</a:t>
            </a:r>
          </a:p>
          <a:p>
            <a:pPr>
              <a:lnSpc>
                <a:spcPct val="108000"/>
              </a:lnSpc>
              <a:spcAft>
                <a:spcPts val="1400"/>
              </a:spcAft>
            </a:pPr>
            <a:r>
              <a:rPr sz="1800">
                <a:solidFill>
                  <a:srgbClr val="33333A"/>
                </a:solidFill>
                <a:latin typeface="Calibri"/>
              </a:rPr>
              <a:t>•  Trained across a large set of TF–DNA crystal structures (our general set ≈ 130 held-out entries).</a:t>
            </a:r>
          </a:p>
          <a:p>
            <a:pPr>
              <a:lnSpc>
                <a:spcPct val="108000"/>
              </a:lnSpc>
              <a:spcAft>
                <a:spcPts val="1400"/>
              </a:spcAft>
            </a:pPr>
            <a:r>
              <a:rPr sz="1800">
                <a:solidFill>
                  <a:srgbClr val="33333A"/>
                </a:solidFill>
                <a:latin typeface="Calibri"/>
              </a:rPr>
              <a:t>•  We evaluate predicted vs. experimental PWMs: Pearson/Spearman, AUROC, IC-weighted PCC, Brier, MAE.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The augmentation pipeline (Stage 1 → 7)</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ipeline_dag.png"/>
          <p:cNvPicPr>
            <a:picLocks noChangeAspect="1"/>
          </p:cNvPicPr>
          <p:nvPr/>
        </p:nvPicPr>
        <p:blipFill>
          <a:blip r:embed="rId2"/>
          <a:stretch>
            <a:fillRect/>
          </a:stretch>
        </p:blipFill>
        <p:spPr>
          <a:xfrm>
            <a:off x="548640" y="1693475"/>
            <a:ext cx="11064240" cy="452260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How the pipeline evolved</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ipeline_evolution.png"/>
          <p:cNvPicPr>
            <a:picLocks noChangeAspect="1"/>
          </p:cNvPicPr>
          <p:nvPr/>
        </p:nvPicPr>
        <p:blipFill>
          <a:blip r:embed="rId2"/>
          <a:stretch>
            <a:fillRect/>
          </a:stretch>
        </p:blipFill>
        <p:spPr>
          <a:xfrm>
            <a:off x="548640" y="1375545"/>
            <a:ext cx="11064240" cy="515846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Stage detail — sampling, docking, minimization</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Stage 1 — BioEmu generates ~100 conformers of the ISOLATED protein monomer; HPacker rebuilds sidechains.</a:t>
            </a:r>
          </a:p>
          <a:p>
            <a:pPr>
              <a:lnSpc>
                <a:spcPct val="108000"/>
              </a:lnSpc>
              <a:spcAft>
                <a:spcPts val="1400"/>
              </a:spcAft>
            </a:pPr>
            <a:r>
              <a:rPr sz="1800">
                <a:solidFill>
                  <a:srgbClr val="33333A"/>
                </a:solidFill>
                <a:latin typeface="Calibri"/>
              </a:rPr>
              <a:t>•  Stage 2 — each conformer is Kabsch-superposed back onto the crystal DNA (interface-atom alignment).</a:t>
            </a:r>
          </a:p>
          <a:p>
            <a:pPr>
              <a:lnSpc>
                <a:spcPct val="108000"/>
              </a:lnSpc>
              <a:spcAft>
                <a:spcPts val="1400"/>
              </a:spcAft>
            </a:pPr>
            <a:r>
              <a:rPr sz="1800">
                <a:solidFill>
                  <a:srgbClr val="33333A"/>
                </a:solidFill>
                <a:latin typeface="Calibri"/>
              </a:rPr>
              <a:t>•  Stage 3 — OpenMM minimization with a restraint ramp (0.1→1.0); recovery pass rescues NaN/clash frames.</a:t>
            </a:r>
          </a:p>
          <a:p>
            <a:pPr>
              <a:lnSpc>
                <a:spcPct val="108000"/>
              </a:lnSpc>
              <a:spcAft>
                <a:spcPts val="1400"/>
              </a:spcAft>
            </a:pPr>
            <a:r>
              <a:rPr sz="1800">
                <a:solidFill>
                  <a:srgbClr val="33333A"/>
                </a:solidFill>
                <a:latin typeface="Calibri"/>
              </a:rPr>
              <a:t>•  Design tension: BioEmu samples the FREE protein — so rigid modules stay near the bound pose, flexible ones drift.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Stage detail — the fnat gate, folds, and eval</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fnat gate — fraction of native interface contacts vs. crystal; floor 0.5. Frames below it never reach training.</a:t>
            </a:r>
          </a:p>
          <a:p>
            <a:pPr>
              <a:lnSpc>
                <a:spcPct val="108000"/>
              </a:lnSpc>
              <a:spcAft>
                <a:spcPts val="1400"/>
              </a:spcAft>
            </a:pPr>
            <a:r>
              <a:rPr sz="1800">
                <a:solidFill>
                  <a:srgbClr val="33333A"/>
                </a:solidFill>
                <a:latin typeface="Calibri"/>
              </a:rPr>
              <a:t>•  Stage 4/5 — passing frames → npz features → augmented training folds (baseline fold + conformers).</a:t>
            </a:r>
          </a:p>
          <a:p>
            <a:pPr>
              <a:lnSpc>
                <a:spcPct val="108000"/>
              </a:lnSpc>
              <a:spcAft>
                <a:spcPts val="1400"/>
              </a:spcAft>
            </a:pPr>
            <a:r>
              <a:rPr sz="1800">
                <a:solidFill>
                  <a:srgbClr val="33333A"/>
                </a:solidFill>
                <a:latin typeface="Calibri"/>
              </a:rPr>
              <a:t>•  Stage 6 — paired training: baseline and augmented models share initialization per seed.</a:t>
            </a:r>
          </a:p>
          <a:p>
            <a:pPr>
              <a:lnSpc>
                <a:spcPct val="108000"/>
              </a:lnSpc>
              <a:spcAft>
                <a:spcPts val="1400"/>
              </a:spcAft>
            </a:pPr>
            <a:r>
              <a:rPr sz="1800">
                <a:solidFill>
                  <a:srgbClr val="33333A"/>
                </a:solidFill>
                <a:latin typeface="Calibri"/>
              </a:rPr>
              <a:t>•  Stage 7 — held-out evaluation: paired bootstrap CIs + t-tests on TF-specific test entries.</a:t>
            </a:r>
          </a:p>
          <a:p>
            <a:pPr>
              <a:lnSpc>
                <a:spcPct val="108000"/>
              </a:lnSpc>
              <a:spcAft>
                <a:spcPts val="1400"/>
              </a:spcAft>
            </a:pPr>
            <a:r>
              <a:rPr sz="1800">
                <a:solidFill>
                  <a:srgbClr val="33333A"/>
                </a:solidFill>
                <a:latin typeface="Calibri"/>
              </a:rPr>
              <a:t>•  fnat pass-rate measures docking faithfulness — NOT whether the augmentation helps (see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Where the drift lives — per-residue mobility</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2_per_residue_profiles.png"/>
          <p:cNvPicPr>
            <a:picLocks noChangeAspect="1"/>
          </p:cNvPicPr>
          <p:nvPr/>
        </p:nvPicPr>
        <p:blipFill>
          <a:blip r:embed="rId2"/>
          <a:stretch>
            <a:fillRect/>
          </a:stretch>
        </p:blipFill>
        <p:spPr>
          <a:xfrm>
            <a:off x="1004290" y="1280160"/>
            <a:ext cx="10152938" cy="5349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The PWM-label problem (a core confound)</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Each TF has ONE experimental PWM. All ~95 augmented frames of that TF share that SAME single label.</a:t>
            </a:r>
          </a:p>
          <a:p>
            <a:pPr>
              <a:lnSpc>
                <a:spcPct val="108000"/>
              </a:lnSpc>
              <a:spcAft>
                <a:spcPts val="1400"/>
              </a:spcAft>
            </a:pPr>
            <a:r>
              <a:rPr sz="1800">
                <a:solidFill>
                  <a:srgbClr val="33333A"/>
                </a:solidFill>
                <a:latin typeface="Calibri"/>
              </a:rPr>
              <a:t>•  So augmentation diversifies the INPUT (structures) but not the TARGET — the model sees many structures mapped to one answer.</a:t>
            </a:r>
          </a:p>
          <a:p>
            <a:pPr>
              <a:lnSpc>
                <a:spcPct val="108000"/>
              </a:lnSpc>
              <a:spcAft>
                <a:spcPts val="1400"/>
              </a:spcAft>
            </a:pPr>
            <a:r>
              <a:rPr sz="1800">
                <a:solidFill>
                  <a:srgbClr val="33333A"/>
                </a:solidFill>
                <a:latin typeface="Calibri"/>
              </a:rPr>
              <a:t>•  Good framing: this teaches the 'deformability envelope' consistent with one specificity — conformational tolerance.</a:t>
            </a:r>
          </a:p>
          <a:p>
            <a:pPr>
              <a:lnSpc>
                <a:spcPct val="108000"/>
              </a:lnSpc>
              <a:spcAft>
                <a:spcPts val="1400"/>
              </a:spcAft>
            </a:pPr>
            <a:r>
              <a:rPr sz="1800">
                <a:solidFill>
                  <a:srgbClr val="33333A"/>
                </a:solidFill>
                <a:latin typeface="Calibri"/>
              </a:rPr>
              <a:t>•  Bad framing: if sampled frames don't correspond to the labeled specificity, we inject pure label noise.</a:t>
            </a:r>
          </a:p>
          <a:p>
            <a:pPr>
              <a:lnSpc>
                <a:spcPct val="108000"/>
              </a:lnSpc>
              <a:spcAft>
                <a:spcPts val="1400"/>
              </a:spcAft>
            </a:pPr>
            <a:r>
              <a:rPr sz="1800">
                <a:solidFill>
                  <a:srgbClr val="33333A"/>
                </a:solidFill>
                <a:latin typeface="Calibri"/>
              </a:rPr>
              <a:t>•  Interacts with imbalance: fanning ~95 frames per TF up-weights that TF ~95× in the loss.</a:t>
            </a:r>
          </a:p>
          <a:p>
            <a:pPr>
              <a:lnSpc>
                <a:spcPct val="108000"/>
              </a:lnSpc>
              <a:spcAft>
                <a:spcPts val="1400"/>
              </a:spcAft>
            </a:pPr>
            <a:r>
              <a:rPr sz="1800">
                <a:solidFill>
                  <a:srgbClr val="33333A"/>
                </a:solidFill>
                <a:latin typeface="Calibri"/>
              </a:rPr>
              <a:t>•  Decisive fix (pending): per-frame PWMs — let each conformer carry its own predicted-shape-consistent label.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Confounds we're controlling for</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#1 Rigid DNA / single label — crystal DNA carried unchanged; one PWM per TF (previous slide + dynamic-DNA plan).</a:t>
            </a:r>
          </a:p>
          <a:p>
            <a:pPr>
              <a:lnSpc>
                <a:spcPct val="108000"/>
              </a:lnSpc>
              <a:spcAft>
                <a:spcPts val="1400"/>
              </a:spcAft>
            </a:pPr>
            <a:r>
              <a:rPr sz="1800">
                <a:solidFill>
                  <a:srgbClr val="33333A"/>
                </a:solidFill>
                <a:latin typeface="Calibri"/>
              </a:rPr>
              <a:t>•  #2 GBSA over-stabilization — implicit solvent can over-compact the interface during minimization.</a:t>
            </a:r>
          </a:p>
          <a:p>
            <a:pPr>
              <a:lnSpc>
                <a:spcPct val="108000"/>
              </a:lnSpc>
              <a:spcAft>
                <a:spcPts val="1400"/>
              </a:spcAft>
            </a:pPr>
            <a:r>
              <a:rPr sz="1800">
                <a:solidFill>
                  <a:srgbClr val="33333A"/>
                </a:solidFill>
                <a:latin typeface="Calibri"/>
              </a:rPr>
              <a:t>•  #3 / #5 Random seed — original configs didn't fix a seed; 5-seed paired re-run now in flight to control this.</a:t>
            </a:r>
          </a:p>
          <a:p>
            <a:pPr>
              <a:lnSpc>
                <a:spcPct val="108000"/>
              </a:lnSpc>
              <a:spcAft>
                <a:spcPts val="1400"/>
              </a:spcAft>
            </a:pPr>
            <a:r>
              <a:rPr sz="1800">
                <a:solidFill>
                  <a:srgbClr val="33333A"/>
                </a:solidFill>
                <a:latin typeface="Calibri"/>
              </a:rPr>
              <a:t>•  Scope: functionally MONOMERIC TF–DNA complexes only (dimers are out of scope — see dux4).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Result 1 — conformer drift tracks recognition-module rigidity</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bp_ensemble.png"/>
          <p:cNvPicPr>
            <a:picLocks noChangeAspect="1"/>
          </p:cNvPicPr>
          <p:nvPr/>
        </p:nvPicPr>
        <p:blipFill>
          <a:blip r:embed="rId2"/>
          <a:stretch>
            <a:fillRect/>
          </a:stretch>
        </p:blipFill>
        <p:spPr>
          <a:xfrm>
            <a:off x="1561599" y="1325880"/>
            <a:ext cx="3369041" cy="2606040"/>
          </a:xfrm>
          <a:prstGeom prst="rect">
            <a:avLst/>
          </a:prstGeom>
        </p:spPr>
      </p:pic>
      <p:pic>
        <p:nvPicPr>
          <p:cNvPr id="5" name="Picture 4" descr="ets1_ensemble.png"/>
          <p:cNvPicPr>
            <a:picLocks noChangeAspect="1"/>
          </p:cNvPicPr>
          <p:nvPr/>
        </p:nvPicPr>
        <p:blipFill>
          <a:blip r:embed="rId3"/>
          <a:stretch>
            <a:fillRect/>
          </a:stretch>
        </p:blipFill>
        <p:spPr>
          <a:xfrm>
            <a:off x="7276599" y="1325880"/>
            <a:ext cx="3369041" cy="2606040"/>
          </a:xfrm>
          <a:prstGeom prst="rect">
            <a:avLst/>
          </a:prstGeom>
        </p:spPr>
      </p:pic>
      <p:pic>
        <p:nvPicPr>
          <p:cNvPr id="6" name="Picture 5" descr="egr1_ensemble.png"/>
          <p:cNvPicPr>
            <a:picLocks noChangeAspect="1"/>
          </p:cNvPicPr>
          <p:nvPr/>
        </p:nvPicPr>
        <p:blipFill>
          <a:blip r:embed="rId4"/>
          <a:stretch>
            <a:fillRect/>
          </a:stretch>
        </p:blipFill>
        <p:spPr>
          <a:xfrm>
            <a:off x="1561599" y="4069080"/>
            <a:ext cx="3369041" cy="2606040"/>
          </a:xfrm>
          <a:prstGeom prst="rect">
            <a:avLst/>
          </a:prstGeom>
        </p:spPr>
      </p:pic>
      <p:pic>
        <p:nvPicPr>
          <p:cNvPr id="7" name="Picture 6" descr="lef1_ensemble.png"/>
          <p:cNvPicPr>
            <a:picLocks noChangeAspect="1"/>
          </p:cNvPicPr>
          <p:nvPr/>
        </p:nvPicPr>
        <p:blipFill>
          <a:blip r:embed="rId5"/>
          <a:stretch>
            <a:fillRect/>
          </a:stretch>
        </p:blipFill>
        <p:spPr>
          <a:xfrm>
            <a:off x="7276599" y="4069080"/>
            <a:ext cx="3369041" cy="26060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Gate behaviour — how many frames survive, per pilot</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1_fnat_distributions.png"/>
          <p:cNvPicPr>
            <a:picLocks noChangeAspect="1"/>
          </p:cNvPicPr>
          <p:nvPr/>
        </p:nvPicPr>
        <p:blipFill>
          <a:blip r:embed="rId2"/>
          <a:stretch>
            <a:fillRect/>
          </a:stretch>
        </p:blipFill>
        <p:spPr>
          <a:xfrm>
            <a:off x="1130206" y="1280160"/>
            <a:ext cx="9901106" cy="53492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What a passing vs failing frame actually looks like</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1_bestworst_combined.png"/>
          <p:cNvPicPr>
            <a:picLocks noChangeAspect="1"/>
          </p:cNvPicPr>
          <p:nvPr/>
        </p:nvPicPr>
        <p:blipFill>
          <a:blip r:embed="rId2"/>
          <a:stretch>
            <a:fillRect/>
          </a:stretch>
        </p:blipFill>
        <p:spPr>
          <a:xfrm>
            <a:off x="548640" y="1488344"/>
            <a:ext cx="11064240" cy="493287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Result 2 — the on-target effect is not what drift predicts</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on_target_three_pilots.png"/>
          <p:cNvPicPr>
            <a:picLocks noChangeAspect="1"/>
          </p:cNvPicPr>
          <p:nvPr/>
        </p:nvPicPr>
        <p:blipFill>
          <a:blip r:embed="rId2"/>
          <a:stretch>
            <a:fillRect/>
          </a:stretch>
        </p:blipFill>
        <p:spPr>
          <a:xfrm>
            <a:off x="1881137" y="1280160"/>
            <a:ext cx="8399245" cy="53492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Result 3a — ETS1: augmentation recovers the correct motif</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wm_logos_ets1.png"/>
          <p:cNvPicPr>
            <a:picLocks noChangeAspect="1"/>
          </p:cNvPicPr>
          <p:nvPr/>
        </p:nvPicPr>
        <p:blipFill>
          <a:blip r:embed="rId2"/>
          <a:stretch>
            <a:fillRect/>
          </a:stretch>
        </p:blipFill>
        <p:spPr>
          <a:xfrm>
            <a:off x="2518953" y="1280160"/>
            <a:ext cx="7123613" cy="4800600"/>
          </a:xfrm>
          <a:prstGeom prst="rect">
            <a:avLst/>
          </a:prstGeom>
        </p:spPr>
      </p:pic>
      <p:sp>
        <p:nvSpPr>
          <p:cNvPr id="5" name="TextBox 4"/>
          <p:cNvSpPr txBox="1"/>
          <p:nvPr/>
        </p:nvSpPr>
        <p:spPr>
          <a:xfrm>
            <a:off x="731520" y="6172200"/>
            <a:ext cx="10698480" cy="548640"/>
          </a:xfrm>
          <a:prstGeom prst="rect">
            <a:avLst/>
          </a:prstGeom>
          <a:noFill/>
        </p:spPr>
        <p:txBody>
          <a:bodyPr wrap="square">
            <a:spAutoFit/>
          </a:bodyPr>
          <a:lstStyle/>
          <a:p>
            <a:pPr algn="ctr"/>
            <a:r>
              <a:rPr sz="1200" i="1">
                <a:solidFill>
                  <a:srgbClr val="6A6A75"/>
                </a:solidFill>
              </a:rPr>
              <a:t>Experimental ETS core (…cTTCC…) vs baseline (mis-registered) vs augmented (recovers TTCC). r: +0.64 → +0.89.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Result 3b — TBP: augmentation degrades a motif the baseline nailed</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wm_logos_tbp.png"/>
          <p:cNvPicPr>
            <a:picLocks noChangeAspect="1"/>
          </p:cNvPicPr>
          <p:nvPr/>
        </p:nvPicPr>
        <p:blipFill>
          <a:blip r:embed="rId2"/>
          <a:stretch>
            <a:fillRect/>
          </a:stretch>
        </p:blipFill>
        <p:spPr>
          <a:xfrm>
            <a:off x="2518953" y="1280160"/>
            <a:ext cx="7123613" cy="4800600"/>
          </a:xfrm>
          <a:prstGeom prst="rect">
            <a:avLst/>
          </a:prstGeom>
        </p:spPr>
      </p:pic>
      <p:sp>
        <p:nvSpPr>
          <p:cNvPr id="5" name="TextBox 4"/>
          <p:cNvSpPr txBox="1"/>
          <p:nvPr/>
        </p:nvSpPr>
        <p:spPr>
          <a:xfrm>
            <a:off x="731520" y="6172200"/>
            <a:ext cx="10698480" cy="548640"/>
          </a:xfrm>
          <a:prstGeom prst="rect">
            <a:avLst/>
          </a:prstGeom>
          <a:noFill/>
        </p:spPr>
        <p:txBody>
          <a:bodyPr wrap="square">
            <a:spAutoFit/>
          </a:bodyPr>
          <a:lstStyle/>
          <a:p>
            <a:pPr algn="ctr"/>
            <a:r>
              <a:rPr sz="1200" i="1">
                <a:solidFill>
                  <a:srgbClr val="6A6A75"/>
                </a:solidFill>
              </a:rPr>
              <a:t>Experimental TATA A-tract (CACAAAA) — baseline recovers it (r +0.94); augmented corrupts it (r +0.54).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Result 3c — EGR1: a genuinely mixed signal</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wm_logos_egr1.png"/>
          <p:cNvPicPr>
            <a:picLocks noChangeAspect="1"/>
          </p:cNvPicPr>
          <p:nvPr/>
        </p:nvPicPr>
        <p:blipFill>
          <a:blip r:embed="rId2"/>
          <a:stretch>
            <a:fillRect/>
          </a:stretch>
        </p:blipFill>
        <p:spPr>
          <a:xfrm>
            <a:off x="2518953" y="1280160"/>
            <a:ext cx="7123613" cy="4800600"/>
          </a:xfrm>
          <a:prstGeom prst="rect">
            <a:avLst/>
          </a:prstGeom>
        </p:spPr>
      </p:pic>
      <p:sp>
        <p:nvSpPr>
          <p:cNvPr id="5" name="TextBox 4"/>
          <p:cNvSpPr txBox="1"/>
          <p:nvPr/>
        </p:nvSpPr>
        <p:spPr>
          <a:xfrm>
            <a:off x="731520" y="6172200"/>
            <a:ext cx="10698480" cy="548640"/>
          </a:xfrm>
          <a:prstGeom prst="rect">
            <a:avLst/>
          </a:prstGeom>
          <a:noFill/>
        </p:spPr>
        <p:txBody>
          <a:bodyPr wrap="square">
            <a:spAutoFit/>
          </a:bodyPr>
          <a:lstStyle/>
          <a:p>
            <a:pPr algn="ctr"/>
            <a:r>
              <a:rPr sz="1200" i="1">
                <a:solidFill>
                  <a:srgbClr val="6A6A75"/>
                </a:solidFill>
              </a:rPr>
              <a:t>Zinc-finger GC-box: augmented raises correlation (r +0.74 → +0.81) and mildly reshuffles position weights.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The six pilots span six DNA-binding families</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1_family_table.png"/>
          <p:cNvPicPr>
            <a:picLocks noChangeAspect="1"/>
          </p:cNvPicPr>
          <p:nvPr/>
        </p:nvPicPr>
        <p:blipFill>
          <a:blip r:embed="rId2"/>
          <a:stretch>
            <a:fillRect/>
          </a:stretch>
        </p:blipFill>
        <p:spPr>
          <a:xfrm>
            <a:off x="548640" y="1949547"/>
            <a:ext cx="11064240" cy="401046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DeepPBS baseline accuracy varies by family</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2_baseline_by_family.png"/>
          <p:cNvPicPr>
            <a:picLocks noChangeAspect="1"/>
          </p:cNvPicPr>
          <p:nvPr/>
        </p:nvPicPr>
        <p:blipFill>
          <a:blip r:embed="rId2"/>
          <a:stretch>
            <a:fillRect/>
          </a:stretch>
        </p:blipFill>
        <p:spPr>
          <a:xfrm>
            <a:off x="548640" y="1322336"/>
            <a:ext cx="11064240" cy="526488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Family signal — ETS is where augmentation helps most</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3_augeffect_by_family.png"/>
          <p:cNvPicPr>
            <a:picLocks noChangeAspect="1"/>
          </p:cNvPicPr>
          <p:nvPr/>
        </p:nvPicPr>
        <p:blipFill>
          <a:blip r:embed="rId2"/>
          <a:stretch>
            <a:fillRect/>
          </a:stretch>
        </p:blipFill>
        <p:spPr>
          <a:xfrm>
            <a:off x="1269754" y="1280160"/>
            <a:ext cx="9622011" cy="4800600"/>
          </a:xfrm>
          <a:prstGeom prst="rect">
            <a:avLst/>
          </a:prstGeom>
        </p:spPr>
      </p:pic>
      <p:sp>
        <p:nvSpPr>
          <p:cNvPr id="5" name="TextBox 4"/>
          <p:cNvSpPr txBox="1"/>
          <p:nvPr/>
        </p:nvSpPr>
        <p:spPr>
          <a:xfrm>
            <a:off x="731520" y="6172200"/>
            <a:ext cx="10698480" cy="548640"/>
          </a:xfrm>
          <a:prstGeom prst="rect">
            <a:avLst/>
          </a:prstGeom>
          <a:noFill/>
        </p:spPr>
        <p:txBody>
          <a:bodyPr wrap="square">
            <a:spAutoFit/>
          </a:bodyPr>
          <a:lstStyle/>
          <a:p>
            <a:pPr algn="ctr"/>
            <a:r>
              <a:rPr sz="1200" i="1">
                <a:solidFill>
                  <a:srgbClr val="6A6A75"/>
                </a:solidFill>
              </a:rPr>
              <a:t>Across the general-130 (motif-level family assignment): ETS (n=10, median ΔPearson +0.042, 60% of entries up) and IRF (n=4, +0.039) are the only net-positive families; all others net-negative. Single-seed.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Scope boundary — the dux4 dimer trial</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DUX4 (5z6z) is a cooperative homeodomain DIMER — two subunits bind the site together.</a:t>
            </a:r>
          </a:p>
          <a:p>
            <a:pPr>
              <a:lnSpc>
                <a:spcPct val="108000"/>
              </a:lnSpc>
              <a:spcAft>
                <a:spcPts val="1400"/>
              </a:spcAft>
            </a:pPr>
            <a:r>
              <a:rPr sz="1800">
                <a:solidFill>
                  <a:srgbClr val="33333A"/>
                </a:solidFill>
                <a:latin typeface="Calibri"/>
              </a:rPr>
              <a:t>•  Our pipeline extracts and samples ONE monomer: BioEmu sees the isolated subunit, far from its partner-stabilized bound state.</a:t>
            </a:r>
          </a:p>
          <a:p>
            <a:pPr>
              <a:lnSpc>
                <a:spcPct val="108000"/>
              </a:lnSpc>
              <a:spcAft>
                <a:spcPts val="1400"/>
              </a:spcAft>
            </a:pPr>
            <a:r>
              <a:rPr sz="1800">
                <a:solidFill>
                  <a:srgbClr val="33333A"/>
                </a:solidFill>
                <a:latin typeface="Calibri"/>
              </a:rPr>
              <a:t>•  Prediction: single-chain frames dock poorly against the dimeric site → many fail the fnat gate, and any augmentation should HURT.</a:t>
            </a:r>
          </a:p>
          <a:p>
            <a:pPr>
              <a:lnSpc>
                <a:spcPct val="108000"/>
              </a:lnSpc>
              <a:spcAft>
                <a:spcPts val="1400"/>
              </a:spcAft>
            </a:pPr>
            <a:r>
              <a:rPr sz="1800">
                <a:solidFill>
                  <a:srgbClr val="33333A"/>
                </a:solidFill>
                <a:latin typeface="Calibri"/>
              </a:rPr>
              <a:t>•  Deliberately run as a negative control / scope probe (full Stage 1→7 launched; result folding in).</a:t>
            </a:r>
          </a:p>
          <a:p>
            <a:pPr>
              <a:lnSpc>
                <a:spcPct val="108000"/>
              </a:lnSpc>
              <a:spcAft>
                <a:spcPts val="1400"/>
              </a:spcAft>
            </a:pPr>
            <a:r>
              <a:rPr sz="1800">
                <a:solidFill>
                  <a:srgbClr val="33333A"/>
                </a:solidFill>
                <a:latin typeface="Calibri"/>
              </a:rPr>
              <a:t>•  Lesson: the method's domain of validity is functionally monomeric recognition — dimers need a fundamentally different sampling model.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What's pending — and the decisive tests</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5-seed paired re-run (all six monomeric pilots) — retires the seed confound; results landing now.</a:t>
            </a:r>
          </a:p>
          <a:p>
            <a:pPr>
              <a:lnSpc>
                <a:spcPct val="108000"/>
              </a:lnSpc>
              <a:spcAft>
                <a:spcPts val="1400"/>
              </a:spcAft>
            </a:pPr>
            <a:r>
              <a:rPr sz="1800">
                <a:solidFill>
                  <a:srgbClr val="33333A"/>
                </a:solidFill>
                <a:latin typeface="Calibri"/>
              </a:rPr>
              <a:t>•  Per-frame PWM labels — the decisive test of whether the ETS1 gain is real signal or label-noise artifact.</a:t>
            </a:r>
          </a:p>
          <a:p>
            <a:pPr>
              <a:lnSpc>
                <a:spcPct val="108000"/>
              </a:lnSpc>
              <a:spcAft>
                <a:spcPts val="1400"/>
              </a:spcAft>
            </a:pPr>
            <a:r>
              <a:rPr sz="1800">
                <a:solidFill>
                  <a:srgbClr val="33333A"/>
                </a:solidFill>
                <a:latin typeface="Calibri"/>
              </a:rPr>
              <a:t>•  DNA flexibility — cgDNA+ stiffness prior in joint relaxation + Deep DNAshape fluctuation channels.</a:t>
            </a:r>
          </a:p>
          <a:p>
            <a:pPr>
              <a:lnSpc>
                <a:spcPct val="108000"/>
              </a:lnSpc>
              <a:spcAft>
                <a:spcPts val="1400"/>
              </a:spcAft>
            </a:pPr>
            <a:r>
              <a:rPr sz="1800">
                <a:solidFill>
                  <a:srgbClr val="33333A"/>
                </a:solidFill>
                <a:latin typeface="Calibri"/>
              </a:rPr>
              <a:t>•  Cheap first probe: project each pilot's crystal DNA onto the cgDNA+ ground state to quantify how far bound ≠ free.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Planned: AF3 complex predictions as a comparator</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Generate the 5 AlphaFold3 predictions per complex for the pilot structures.</a:t>
            </a:r>
          </a:p>
          <a:p>
            <a:pPr>
              <a:lnSpc>
                <a:spcPct val="108000"/>
              </a:lnSpc>
              <a:spcAft>
                <a:spcPts val="1400"/>
              </a:spcAft>
            </a:pPr>
            <a:r>
              <a:rPr sz="1800">
                <a:solidFill>
                  <a:srgbClr val="33333A"/>
                </a:solidFill>
                <a:latin typeface="Calibri"/>
              </a:rPr>
              <a:t>•  Compare AF3 conformational spread vs. BioEmu ensembles vs. crystal — do they agree on the bound basin?</a:t>
            </a:r>
          </a:p>
          <a:p>
            <a:pPr>
              <a:lnSpc>
                <a:spcPct val="108000"/>
              </a:lnSpc>
              <a:spcAft>
                <a:spcPts val="1400"/>
              </a:spcAft>
            </a:pPr>
            <a:r>
              <a:rPr sz="1800">
                <a:solidFill>
                  <a:srgbClr val="33333A"/>
                </a:solidFill>
                <a:latin typeface="Calibri"/>
              </a:rPr>
              <a:t>•  Use AF3 as an orthogonal check on whether our augmented frames are physically reasonable.</a:t>
            </a:r>
          </a:p>
          <a:p>
            <a:pPr>
              <a:lnSpc>
                <a:spcPct val="108000"/>
              </a:lnSpc>
              <a:spcAft>
                <a:spcPts val="1400"/>
              </a:spcAft>
            </a:pPr>
            <a:r>
              <a:rPr sz="1800">
                <a:solidFill>
                  <a:srgbClr val="33333A"/>
                </a:solidFill>
                <a:latin typeface="Calibri"/>
              </a:rPr>
              <a:t>•  Status: planned, not yet run.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64240" cy="868680"/>
          </a:xfrm>
          <a:prstGeom prst="rect">
            <a:avLst/>
          </a:prstGeom>
          <a:noFill/>
        </p:spPr>
        <p:txBody>
          <a:bodyPr wrap="square">
            <a:spAutoFit/>
          </a:bodyPr>
          <a:lstStyle/>
          <a:p>
            <a:r>
              <a:rPr sz="2800" b="1">
                <a:solidFill>
                  <a:srgbClr val="33333A"/>
                </a:solidFill>
                <a:latin typeface="Calibri"/>
              </a:rPr>
              <a:t>Summary</a:t>
            </a:r>
          </a:p>
        </p:txBody>
      </p:sp>
      <p:sp>
        <p:nvSpPr>
          <p:cNvPr id="3" name="Rectangle 2"/>
          <p:cNvSpPr/>
          <p:nvPr/>
        </p:nvSpPr>
        <p:spPr>
          <a:xfrm>
            <a:off x="566928" y="1078992"/>
            <a:ext cx="2194560" cy="38100"/>
          </a:xfrm>
          <a:prstGeom prst="rect">
            <a:avLst/>
          </a:prstGeom>
          <a:solidFill>
            <a:srgbClr val="7B6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81360" cy="5120640"/>
          </a:xfrm>
          <a:prstGeom prst="rect">
            <a:avLst/>
          </a:prstGeom>
          <a:noFill/>
        </p:spPr>
        <p:txBody>
          <a:bodyPr wrap="square">
            <a:spAutoFit/>
          </a:bodyPr>
          <a:lstStyle/>
          <a:p>
            <a:pPr>
              <a:lnSpc>
                <a:spcPct val="108000"/>
              </a:lnSpc>
              <a:spcAft>
                <a:spcPts val="1400"/>
              </a:spcAft>
            </a:pPr>
            <a:r>
              <a:rPr sz="1800">
                <a:solidFill>
                  <a:srgbClr val="33333A"/>
                </a:solidFill>
                <a:latin typeface="Calibri"/>
              </a:rPr>
              <a:t>•  Built a 7-stage pipeline turning BioEmu ensembles into DeepPBS training augmentation, gated on interface fidelity.</a:t>
            </a:r>
          </a:p>
          <a:p>
            <a:pPr>
              <a:lnSpc>
                <a:spcPct val="108000"/>
              </a:lnSpc>
              <a:spcAft>
                <a:spcPts val="1400"/>
              </a:spcAft>
            </a:pPr>
            <a:r>
              <a:rPr sz="1800">
                <a:solidFill>
                  <a:srgbClr val="33333A"/>
                </a:solidFill>
                <a:latin typeface="Calibri"/>
              </a:rPr>
              <a:t>•  Six monomeric pilots: effect spans significantly harmful (TBP) → mixed (EGR1) → significantly beneficial (ETS1).</a:t>
            </a:r>
          </a:p>
          <a:p>
            <a:pPr>
              <a:lnSpc>
                <a:spcPct val="108000"/>
              </a:lnSpc>
              <a:spcAft>
                <a:spcPts val="1400"/>
              </a:spcAft>
            </a:pPr>
            <a:r>
              <a:rPr sz="1800">
                <a:solidFill>
                  <a:srgbClr val="33333A"/>
                </a:solidFill>
                <a:latin typeface="Calibri"/>
              </a:rPr>
              <a:t>•  Conformer drift explains fnat yield but NOT benefit sign — TBP &amp; ETS1 are equally rigid, opposite outcomes.</a:t>
            </a:r>
          </a:p>
          <a:p>
            <a:pPr>
              <a:lnSpc>
                <a:spcPct val="108000"/>
              </a:lnSpc>
              <a:spcAft>
                <a:spcPts val="1400"/>
              </a:spcAft>
            </a:pPr>
            <a:r>
              <a:rPr sz="1800">
                <a:solidFill>
                  <a:srgbClr val="33333A"/>
                </a:solidFill>
                <a:latin typeface="Calibri"/>
              </a:rPr>
              <a:t>•  Family view: ETS is the family augmentation helps most (ETS1's gain echoed by ERG/FLI1 paralogs); most families net-harmed — single-seed, small-n.</a:t>
            </a:r>
          </a:p>
          <a:p>
            <a:pPr>
              <a:lnSpc>
                <a:spcPct val="108000"/>
              </a:lnSpc>
              <a:spcAft>
                <a:spcPts val="1400"/>
              </a:spcAft>
            </a:pPr>
            <a:r>
              <a:rPr sz="1800">
                <a:solidFill>
                  <a:srgbClr val="33333A"/>
                </a:solidFill>
                <a:latin typeface="Calibri"/>
              </a:rPr>
              <a:t>•  PWM logos make it concrete: ETS1 recovers the TTCC core; TBP corrupts a motif it already knew.</a:t>
            </a:r>
          </a:p>
          <a:p>
            <a:pPr>
              <a:lnSpc>
                <a:spcPct val="108000"/>
              </a:lnSpc>
              <a:spcAft>
                <a:spcPts val="1400"/>
              </a:spcAft>
            </a:pPr>
            <a:r>
              <a:rPr sz="1800">
                <a:solidFill>
                  <a:srgbClr val="33333A"/>
                </a:solidFill>
                <a:latin typeface="Calibri"/>
              </a:rPr>
              <a:t>•  Decisive tests in flight: 5-seed control + per-frame PWMs; DNA flexibility is the next scientific frontier.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