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6"/>
    <p:sldId id="284" r:id="rId37"/>
    <p:sldId id="285" r:id="rId38"/>
    <p:sldId id="286"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9 is the pipeline's one physics-based refinement stage, and it earns a long chapter because how we relax the docked poses shapes every downstream feature and label.</a:t>
            </a:r>
          </a:p>
          <a:p/>
          <a:p>
            <a:r>
              <a:t>The one-sentence framing to open with: Stage 2 hands us poses that are geometrically plausible but energetically strained, and Stage 3's whole job is to relax that strain WITHOUT letting the structure wander off the bound geometry we trust. Everything in this deck is a variation on that single tension — 'relax the strain, preserve the pose.'</a:t>
            </a:r>
          </a:p>
          <a:p/>
          <a:p>
            <a:r>
              <a:t>Orientation for the audience: the engine is stage3_minimize.py, 409 lines of OpenMM, and it processes one BioEmu frame per invocation. It runs in the bioemu conda env, one SLURM array task per frame. Every number in this deck is read from that actual source, not paraphrased.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Situate the stage before diving into mechanics.</a:t>
            </a:r>
          </a:p>
          <a:p/>
          <a:p>
            <a:r>
              <a:t>Upstream: Stage 2 docks each independently-sampled protein conformer onto the crystal DNA by a Kabsch fit. The protein never saw that DNA during sampling, so the interface it lands on has atomic clashes and strained contacts — the placement is right but the local geometry is wrong.</a:t>
            </a:r>
          </a:p>
          <a:p/>
          <a:p>
            <a:r>
              <a:t>Downstream: two consumers. First the fnat gate (Chapter 8), which is scored AFTER minimization — that ordering matters and we'll see why. Second, for states that pass, Stage 4 featurization turns them into the tensors DeepPBS reads.</a:t>
            </a:r>
          </a:p>
          <a:p/>
          <a:p>
            <a:r>
              <a:t>Why you can't skip it: DeepPBS reads interface geometry. Featurize a raw clashy pose and the model learns simulation artifacts instead of recognition chemistry. Minimization exists to make each frame physically self-consistent at the interface — locally clean, without moving the pose globally.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roadmap slide. The engine's own docstring lists six steps per state; the next slide walks them. Keep this short — it's the map, not the territory.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six steps at a measured pace — this is the skeleton for the whole chapter.</a:t>
            </a:r>
          </a:p>
          <a:p/>
          <a:p>
            <a:r>
              <a:t>Step 1 is the subtle one and gets its own section later (9.4): the metal detection has to happen BEFORE removeHeterogens wipes the ion, because you need the ion's position to know which side-chain atoms were coordinating it.</a:t>
            </a:r>
          </a:p>
          <a:p/>
          <a:p>
            <a:r>
              <a:t>Steps 3-4-5 are the three-phase minimization — the heart of the stage. Phase 0 fixes hydrogens against a frozen heavy-atom frame; Phase 1 is the gentle clash-resolving ramp; Phase 2 is the long final settle.</a:t>
            </a:r>
          </a:p>
          <a:p/>
          <a:p>
            <a:r>
              <a:t>The operational point at the bottom: each state is an independent SLURM array task, and the task is idempotent — it skips any state that already has output. So if a batch partially fails, you just re-submit and it fills only the gaps. N_FRAMES drives how many array tasks get launched.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we've seen the flow; now the motivation for each piece. Start with the most basic question a skeptic asks — why touch the pose at all?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defines the target precisely, using the engine's own clash metric so the audience knows exactly what 'clash' means here.</a:t>
            </a:r>
          </a:p>
          <a:p/>
          <a:p>
            <a:r>
              <a:t>count_clashes() counts heavy-atom protein–DNA pairs closer than 2.4 angstroms — that's the working definition of a steric clash in this pipeline. It excludes hydrogens and only looks at protein-vs-DNA pairs (not internal protein clashes), because the interface is what DeepPBS features. It's printed at every phase so you get a full trajectory, which is the next figure.</a:t>
            </a:r>
          </a:p>
          <a:p/>
          <a:p>
            <a:r>
              <a:t>The caveat is worth stating out loud because it surprises people: the engine sets missingResidues = {} deliberately. That means PDBFixer repairs missing ATOMS within residues that are present, but does NOT rebuild whole missing residues — a disordered loop absent in the crystal stays absent. Also removeHeterogens drops waters. So Stage 3 is not a homology-modeling step; it takes the structure as given and relaxes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money figure for the stage — narrate it slowly, it appears again in 9.5.</a:t>
            </a:r>
          </a:p>
          <a:p/>
          <a:p>
            <a:r>
              <a:t>Read the two curves. Red (left axis) is the protein–DNA clash count; blue (right axis) is the minimum contact distance. Follow left to right through the phases.</a:t>
            </a:r>
          </a:p>
          <a:p/>
          <a:p>
            <a:r>
              <a:t>At 'init' and 'H-min' the clash count is flat at 73 — that's Phase 0, where every heavy atom is frozen, so of course the heavy-atom clashes can't change. Only hydrogens moved.</a:t>
            </a:r>
          </a:p>
          <a:p/>
          <a:p>
            <a:r>
              <a:t>Then the vdW ramp (the shaded band). Nothing dramatic happens at σ = 0.1, 0.3, 0.5 — the atoms are still small. The collapse happens between σ = 0.5 and σ = 1.0: as the atoms grow back to full radius the minimization has room to slide them apart gently, and clashes fall 73 → 0 while the minimum distance opens from about 0.7 Å (essentially overlapping) to 2.6 Å (a clean contact).</a:t>
            </a:r>
          </a:p>
          <a:p/>
          <a:p>
            <a:r>
              <a:t>The teaching point, which sets up 9.5: this gentle resolution is ONLY possible because we grew the atoms slowly. A single hard minimization at full radius on a 73-clash start would see enormous repulsive forces and diverge. This is FOXA state 001, one representative state — every state prints its own trajectory to the log.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the energy function. Two lines of code, but one of them is the source of a caveat that echoes all the way into Part III.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lines of code define the whole energy landscape; read them off the slide.</a:t>
            </a:r>
          </a:p>
          <a:p/>
          <a:p>
            <a:r>
              <a:t>ff14SB is the AMBER protein/nucleic force field — bonded springs, torsions, non-bonded electrostatics and van der Waals. GB-Neck2 is a generalized-Born implicit solvent: instead of thousands of explicit water molecules, water is a continuous dielectric. That's dramatically cheaper and standard for minimization. NoCutoff follows from implicit solvent — no periodic box, so every pairwise interaction is computed exactly rather than truncated.</a:t>
            </a:r>
          </a:p>
          <a:p/>
          <a:p>
            <a:r>
              <a:t>A small but real detail: Phase 0's system is built with no constraints, while the Phase 1/2 system constrains H-bond lengths (HBonds). And the platform is CUDA with mixed precision when a GPU is present, CPU otherwise — worth recording because it affects reproducibility at the margins.</a:t>
            </a:r>
          </a:p>
          <a:p/>
          <a:p>
            <a:r>
              <a:t>Now the caveat, and this is the one to emphasize because it resurfaces in Part III as a scientific limitation. GB-Neck2 has no explicit counter-ions. Without ions screening the charges, it tends to over-stabilize close ion pairs. At a protein–DNA interface — which is a dense stack of positive side chains against a negative backbone — that means the relaxed geometry can come out artificially compact. It's not a bug; it's a known property of implicit solvent, and it originates right here in the solvent-model choice. Flag it now so that when it comes back in the caveats chapter, the audience already knows where it came from.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We have an energy function that, left alone, would happily slide the protein off the DNA. Restraints are the leash.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restraint as a physical object first, then the specific choice.</a:t>
            </a:r>
          </a:p>
          <a:p/>
          <a:p>
            <a:r>
              <a:t>A harmonic positional restraint is a virtual spring: the energy is one-half k times the squared displacement from a reference position x0. The stiffness k, in kcal per mole per angstrom squared, sets how hard it resists being moved. In the engine it's implemented as a CustomExternalForce with exactly that expression.</a:t>
            </a:r>
          </a:p>
          <a:p/>
          <a:p>
            <a:r>
              <a:t>The design decision: pin the backbone, free the side chains. Protein backbone atoms N, CA, C — and by default the DNA backbone P and C1-prime — are restrained at k = 10. Side chains are left completely free. The reasoning is that the backbone IS the docked pose we trust from Stage 2; if you let it float, you throw away the specific conformer identity that the whole augmentation experiment is built on varying. But side chains carry much of the recognition chemistry and genuinely need to repack against their new DNA neighbor, so they must be free.</a:t>
            </a:r>
          </a:p>
          <a:p/>
          <a:p>
            <a:r>
              <a:t>One implementation nuance: the reference positions are the post-Phase-0 coordinates. But since Phase 0 froze all heavy atoms, those heavy-atom coordinates are identical to the docked coordinates — so in effect the backbone is pinned to exactly where Stage 2 placed it.</a:t>
            </a:r>
          </a:p>
          <a:p/>
          <a:p>
            <a:r>
              <a:t>The general principle, worth stating as the takeaway: restraints are how you relax locally without losing global placement. It's the mechanism that makes 'preserve the pose' physically enforceable.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is the receipt for 'preserve the pose.'</a:t>
            </a:r>
          </a:p>
          <a:p/>
          <a:p>
            <a:r>
              <a:t>Each pilot has two markers: grey circle = the docked pose's backbone RMSD to the crystal, teal square = the minimized pose's. If minimization were dragging structures around, the two would separate. They don't — at every pilot the docked and minimized values are essentially identical, the markers overlap.</a:t>
            </a:r>
          </a:p>
          <a:p/>
          <a:p>
            <a:r>
              <a:t>Note the x-axis ordering, which we'll reuse throughout Part IV: pilots are sorted by fnat pass-rate, which turns out to track recognition-module rigidity. ETS and TBP on the left are rigid and hug the crystal at ~1-1.5 Å; the floppier folds spread out to the right. The far-right outlier at ~16 Å is the tandem homeodomain (DUX4), the dimer that's excluded from the monomer benchmark.</a:t>
            </a:r>
          </a:p>
          <a:p/>
          <a:p>
            <a:r>
              <a:t>The reason it's the backbone RMSD and not pure Cα: the per_state_rmsds table doesn't carry a pure-Cα column, so R1/R3 use backbone (N, CA, C, O) as the Cα proxy and label it as such.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R1 showed the magnitude is tiny; R3 shows the DIRECTION of what little movement there is.</a:t>
            </a:r>
          </a:p>
          <a:p/>
          <a:p>
            <a:r>
              <a:t>This plots the per-state change: Stage 3 minus Stage 2 backbone RMSD to crystal. Negative means the minimized frame ended up closer to the crystal than the docked frame was — minimization nudged it toward the bound truth. Teal boxes are median-negative, red boxes median-positive.</a:t>
            </a:r>
          </a:p>
          <a:p/>
          <a:p>
            <a:r>
              <a:t>The headline: most pilots are teal — minimization is a local relaxation that, if anything, pulls marginally toward the crystal, never systematically away. That's the strongest possible evidence that the stage isn't corrupting the pose.</a:t>
            </a:r>
          </a:p>
          <a:p/>
          <a:p>
            <a:r>
              <a:t>The two exceptions are honest and worth pointing at: HMG-box (LEF1) and the tandem homeodomain both go slightly positive. These are the floppiest folds — LEF1 has only a 19 percent fnat pass rate — and in those cases the unrestrained side chains and the softer core let a few frames drift a hair off the bound pose. It's a diagnostic flag: if a pilot's R3 median is clearly positive, minimization is walking frames off the pose and you should investigate before featurizing. For the rigid folds that carry the augmentation signal, it's firmly negative.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novel piece of engineering in the stage and the part most worth teaching as a reusable pattern. Slow down here.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the problem as a collision of two facts before revealing the trick.</a:t>
            </a:r>
          </a:p>
          <a:p/>
          <a:p>
            <a:r>
              <a:t>Fact one: a large fraction of DNA-binding domains are held together by a structural metal — the classic case is the C2H2 zinc finger, where a Zn ion clamps together the beta-hairpin and the recognition helix. EGR1, our reference pilot, has three zinc ions in the crystal. Take the zinc away and the fold falls apart.</a:t>
            </a:r>
          </a:p>
          <a:p/>
          <a:p>
            <a:r>
              <a:t>Fact two, the collision: the pipeline's cleanup step, removeHeterogens, strips every non-standard residue — and a metal ion is a non-standard residue, so it gets silently deleted. And even if you kept it, AMBER ff14SB has no parameters for a bare metal ion, so OpenMM couldn't simulate it anyway.</a:t>
            </a:r>
          </a:p>
          <a:p/>
          <a:p>
            <a:r>
              <a:t>So a naive minimization of a zinc finger deletes the zinc and then relaxes the now-unsupported coordination shell into a collapsed, unphysical apo-zinc fold — and that wrong structure gets featurized.</a:t>
            </a:r>
          </a:p>
          <a:p/>
          <a:p>
            <a:r>
              <a:t>The trick, which is genuinely elegant: you never put the metal in the simulated system at all. Instead, before stripping it, you look at where it was and which side-chain atoms were holding it. Then you freeze the GEOMETRY those atoms formed — the shape the metal imposed — using ordinary harmonic restraints. The metal's job was geometric; you replicate the geometry directly. Next slide has the exact recipe.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exact algorithm — read the parameters off the slide, they're all verbatim from the source.</a:t>
            </a:r>
          </a:p>
          <a:p/>
          <a:p>
            <a:r>
              <a:t>Step 1, detection: the engine looks for eight structural metal elements, and crucially does this BEFORE removeHeterogens runs, because afterward the metal is gone.</a:t>
            </a:r>
          </a:p>
          <a:p/>
          <a:p>
            <a:r>
              <a:t>Step 2, recording the shell: for each metal, it finds side-chain heavy atoms within 3.0 angstroms — that's the --metal-coord-cutoff. The candidate atoms are the usual metal ligands: cysteine sulfur, histidine nitrogens, the carboxylate and hydroxyl oxygens. It keeps a cluster only if at least two ligands coordinate the same metal — a single contact isn't a coordination shell. And it records each ligand by chain/residue/atom name, not by index, so the identification survives PDBFixer and Modeller renumbering the atoms.</a:t>
            </a:r>
          </a:p>
          <a:p/>
          <a:p>
            <a:r>
              <a:t>Step 3, caging: it builds one HarmonicBondForce and adds a bond between every PAIR of coordinating atoms in a cluster — so a 4-ligand zinc site becomes six pairwise bonds — each pinned at the distance those atoms currently sit at, with stiffness k = 20. That's the answer to 'what k was the cage' — 20 kcal per mol per angstrom squared, the stiffest restraint in the whole stage, stiffer than the backbone's 10 and far stiffer than the DNA tether's 1.5.</a:t>
            </a:r>
          </a:p>
          <a:p/>
          <a:p>
            <a:r>
              <a:t>It prints diagnostics: how many metals and clusters it found, the ligand list per cluster, and after minimization the cage drift — how far the pinned pairs moved. Low drift means the cage held.</a:t>
            </a:r>
          </a:p>
          <a:p/>
          <a:p>
            <a:r>
              <a:t>You can turn it all off with --ignore-metals, which is the cage-OFF arm we test on the next slide. And the closing line is the transferable lesson: whenever a force field can't describe a cofactor, restrain the geometry the cofactor imposes rather than the cofactor itself.</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cage is a strong intervention, so the fair question — and this is a genuine result, not just a design story — is whether it actually moves the downstream prediction or is invisible to DeepPBS. This is the Chapter 19 A/B, previewed here at its source.</a:t>
            </a:r>
          </a:p>
          <a:p/>
          <a:p>
            <a:r>
              <a:t>Three pilots, five training seeds each, three arms: baseline (crystal only), augmented with the cage ON, augmented with the cage OFF (via --ignore-metals). The dotted line is the baseline mean.</a:t>
            </a:r>
          </a:p>
          <a:p/>
          <a:p>
            <a:r>
              <a:t>Read the three panels. EGR1 and DUX4: cage ON and cage OFF are basically comparable — the cage doesn't change much there. But TBP on the right is the clean signal: cage-ON augmented reaches 0.627, cage-OFF drops to 0.585, with the cage-OFF seeds scattering much lower.</a:t>
            </a:r>
          </a:p>
          <a:p/>
          <a:p>
            <a:r>
              <a:t>The interpretation is the nice part: the cage matters MOST where minimization is otherwise LEAST constrained. TBP's beta-saddle sits on the DNA with relatively little else pinning it, so whether the coordination geometry is held or allowed to collapse has a visible downstream effect. In tightly-packed folds the rest of the structure constrains things anyway and the cage is redundant. So the cage isn't cosmetic — it's a measurable design decision, and this panel is its robustness receipt. One caveat for reproducibility: this A/B lives only in the May-2026 predecessor results tree.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We've referenced 'the ramp' repeatedly; now the full mechanism and the reason it's three phases, not one.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mechanism behind the clash-trajectory figure from 9.1 — you can flip back to it if the audience wants the visual.</a:t>
            </a:r>
          </a:p>
          <a:p/>
          <a:p>
            <a:r>
              <a:t>Phase 0: freeze every heavy atom by setting its mass to zero, and minimize only the newly-added hydrogens, up to 2000 iterations. This settles hydrogen placement without letting it nudge the heavy-atom frame we care about.</a:t>
            </a:r>
          </a:p>
          <a:p/>
          <a:p>
            <a:r>
              <a:t>Phase 1 is the key move. It scales the van der Waals radius sigma of every atom through five values — 0.1, 0.3, 0.5, 0.7, 1.0 — running 500 minimization iterations at each. Implementation detail: it rescales sigma on the NonbondedForce, leaving charge and epsilon alone, and pushes the update into the running context. Backbone and cage restraints stay active the whole time. And it prints the energy, clash count, and min distance at each stage — that's the data behind the trajectory figure.</a:t>
            </a:r>
          </a:p>
          <a:p/>
          <a:p>
            <a:r>
              <a:t>Phase 2: at full radius, a long final minimization up to 10,000 iterations, then strip the hydrogens and write the PDB.</a:t>
            </a:r>
          </a:p>
          <a:p/>
          <a:p>
            <a:r>
              <a:t>Why bother with all this instead of one minimization? Because the start is clashy — 73 overlapping-atom pairs in our example — and overlapping atoms at full radius feel astronomically large repulsive forces. Hand that to a single hard minimization and it diverges numerically. Shrinking the atoms first makes those forces finite; growing them back slowly lets the clashes resolve smoothly. This softening-then-growing schedule is the standard soft-core trick.</a:t>
            </a:r>
          </a:p>
          <a:p/>
          <a:p>
            <a:r>
              <a:t>Failure handling, which matters for the coverage numbers later: a stage that fails exits with code 2, a failed final with code 3. Either way that state produces no output PDB and simply drops out of the denominator downstream — which is part of why pass rates vary. The recovery path on the next figure catches those.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same physics as the 9.1 figure, framed explicitly as the ramp argument — use whichever of the two you prefer live; you don't need both if time is short.</a:t>
            </a:r>
          </a:p>
          <a:p/>
          <a:p>
            <a:r>
              <a:t>The story in one sentence: while the atoms are shrunk down (sigma up to 0.5) they barely overlap in energy terms, so the clash count sits flat — the minimizer has nothing to push against. As sigma grows from 0.7 to 1.0, the atoms reach full size, the minimizer now feels the contacts and gently separates them, and clashes fall to zero while the minimum distance climbs to a clean 2.6 angstroms.</a:t>
            </a:r>
          </a:p>
          <a:p/>
          <a:p>
            <a:r>
              <a:t>The counterfactual is the teaching point: if you skipped the ramp and ran one minimization at full sigma on this 73-clash start, the initial repulsive forces would be so large the integrator diverges. The ramp is not a nicety — it's what makes minimizing a docked pose possible at all.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piece of hard-won operational knowledge that the outline never captured — it comes straight from reading the recovery scripts, and a successor will thank you for it.</a:t>
            </a:r>
          </a:p>
          <a:p/>
          <a:p>
            <a:r>
              <a:t>When a state fails its normal ramp, it gets retried with a gentler recovery ramp: six stages instead of five, starting all the way down at sigma 0.05 and adding intermediate 0.2 and 0.4 rungs, with double the iterations — 1000 per rung. The finer, slower approach rescues states that the standard ramp couldn't settle.</a:t>
            </a:r>
          </a:p>
          <a:p/>
          <a:p>
            <a:r>
              <a:t>There are two drivers for this, and the reason there are two is a real war story. The original stage3_recover.sh walks all N_FRAMES states serially in a single job. That's fine until several states each need the expensive gentle ramp — then the serial job hits its 4-hour wall clock and dies. That's exactly what stalled the DUX4 dimer: seven stragglers, each about 30 minutes on the gentle ramp, ran past the limit. The fix was stage3_recover_array.sh, which runs each missing state as its own SLURM array task, in parallel, so one slow state can't sink the batch.</a:t>
            </a:r>
          </a:p>
          <a:p/>
          <a:p>
            <a:r>
              <a:t>Both are idempotent — they skip states that already succeeded — and both are best-effort: a state that STILL can't be minimized after recovery logs loudly and exits 0, on purpose, so that a single stuck state never blocks the downstream afterok dependency gate. The pipeline would rather train on 92 states than halt on 1.</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conceptual climax of the chapter. The DNA restraint stiffness is not just a parameter; it defines the scientific question. Give it room.</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as the chapter's most important idea. Every other knob tunes HOW we minimize; this one decides WHAT the whole augmentation experiment is testing.</a:t>
            </a:r>
          </a:p>
          <a:p/>
          <a:p>
            <a:r>
              <a:t>Here's the logic. If we hold the DNA rigid at its crystal pose while the protein relaxes around it, then our ensemble is 'many protein poses against one fixed binding site.' If instead we let the DNA deform too, the ensemble becomes 'genuine binding modes' where protein and DNA co-adapt. Those are two different scientific claims, and the DNA restraint stiffness is the dial between them.</a:t>
            </a:r>
          </a:p>
          <a:p/>
          <a:p>
            <a:r>
              <a:t>Implementation, verbatim from the engine. Frozen is the default: protein and DNA backbone share ONE restraint force at k = 10 — this reproduces the original frozen-DNA pipeline exactly. The relaxed variant, triggered by passing --dna-restraint-k, splits the DNA onto its OWN separate force with its own global parameter k_dna. Two flavors: k_dna = 1.5 is a soft tether, k_dna = 0 releases the DNA entirely.</a:t>
            </a:r>
          </a:p>
          <a:p/>
          <a:p>
            <a:r>
              <a:t>And the clever scheduling piece — late release. With --dna-release-stage 5, the DNA is held at the stiff protein k of 10 through ramp stages 1 through 4 — those are the violent clash-resolving stages, where you do NOT want the DNA thrashing around — and only dropped to the soft 1.5 at stage 5, the last ramp rung, plus the final minimization. So the protein settles against a held DNA first, then they co-relax gently at the end. Note that stage 5 IS the last of the five ramp stages, so the DNA effectively only relaxes for the final settling.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operational points here, both from the actual configs.</a:t>
            </a:r>
          </a:p>
          <a:p/>
          <a:p>
            <a:r>
              <a:t>First, how cheap the relaxed arm is to set up: the entire difference between the frozen config and the relaxed config is two exported variables — the DNA restraint k of 1.5 and the release stage of 5. Because TF_NAME stays 'tbp,' the expensive upstream stages — the BioEmu ensemble in Stage 1 and the docked frames in Stage 2 — are reused as-is; common.sh just appends a _dnarelax suffix so Stage 3 and beyond write to a parallel tree without overwriting the frozen baseline. You launch it starting at stage 3.</a:t>
            </a:r>
          </a:p>
          <a:p/>
          <a:p>
            <a:r>
              <a:t>Second, and this is a statistical trap to flag clearly: the frozen and relaxed pipelines each retrain their OWN baseline. That means you canNOT compare absolute Pearson values across the two pipelines — a 0.62 in the frozen experiment and a 0.62 in the relaxed experiment are not the same thing. The only legitimate cross-treatment quantity is the within-pipeline, seed-matched delta-Pearson: augmented minus baseline, seed by seed, within one pipeline. The figure color convention encodes this — grey baseline, teal augmented-frozen, green augmented-relaxed — and you should never subtract a teal from a green.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about the limits — this is a book for successors, and overselling the relaxed variant would mislead them.</a:t>
            </a:r>
          </a:p>
          <a:p/>
          <a:p>
            <a:r>
              <a:t>First, the 1.5 value. It is NOT a physically-derived stiffness. The config comment is explicit: it's a floor, chosen to keep the DNA from melting under GBSA — recall the implicit solvent has no counter-ions, so an unrestrained charged DNA backbone can literally come apart. 1.5 is stiff enough to prevent that while still letting the duplex deform toward the protein. It's also deliberately non-zero because that makes it the natural on-ramp to the Tier-2 plan in Chapter 20, a sequence-dependent cgDNA-plus stiffness prior. So it's a placeholder with a purpose, not a tuned optimum.</a:t>
            </a:r>
          </a:p>
          <a:p/>
          <a:p>
            <a:r>
              <a:t>Second, coverage. This is the most important honesty point: the relaxed variant is early-stage. Seven pilots have the data, only two have trained models, and exactly one — tbp_dnarelax — has a benchmark evaluation, and that one is actually slightly WORSE than frozen TBP. The eval JSON counts confirm the asymmetry: ten standard benchmark files versus nine relaxed. So every DNA-relaxation result in this book is directional, not settled. The structural consequences — DNA bending toward the bound pose — are Chapter 18; the principled stiffness priors are Chapter 20. There's validation tooling in the validation subfolder if a successor wants to extend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bonus structural slide — include it if the audience is structurally-minded, skip it for time otherwise.</a:t>
            </a:r>
          </a:p>
          <a:p/>
          <a:p>
            <a:r>
              <a:t>This is the per-residue breakdown of where the deviation from crystal actually lives. Each curve is one pilot's mean per-residue Cα RMSD. The universal pattern across every TF: the cores are rigid — low, flat — and the mobility is concentrated at the chain termini, the spikes. </a:t>
            </a:r>
          </a:p>
          <a:p/>
          <a:p>
            <a:r>
              <a:t>Why it matters for this chapter: it confirms that minimization's local relaxation and the ensemble's conformational spread happen in the SAME places — the floppy termini — while the recognition-bearing interface cores stay put. That's reassuring, because it means the augmentation is varying the parts of the protein that are genuinely mobile, not scrambling the business end. It also foreshadows the rigidity axis that organizes all of Part IV.</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successor's checklist — the five things to verify before trusting a pilot's minimized ensemble. Frame it as 'if you run this stage on a new TF, here's how you know it worked.'</a:t>
            </a:r>
          </a:p>
          <a:p/>
          <a:p>
            <a:r>
              <a:t>One: clashes resolved — pull the per-state log and confirm the count fell from hundreds to near-zero, which the clash-trajectory figure visualizes.</a:t>
            </a:r>
          </a:p>
          <a:p/>
          <a:p>
            <a:r>
              <a:t>Two: pose preserved — R1 shows the docked and minimized RMSDs coincide, and R3's per-state median is at or below zero. If R3 goes clearly positive for a pilot, that's your red flag that minimization is dragging frames off the bound pose.</a:t>
            </a:r>
          </a:p>
          <a:p/>
          <a:p>
            <a:r>
              <a:t>Three: cage held — for any metal fold, check the printed cage drift is small and the coordination geometry renders intact rather than collapsed.</a:t>
            </a:r>
          </a:p>
          <a:p/>
          <a:p>
            <a:r>
              <a:t>Four, and this is the strongest single sanity check: run compute_reachability with source stage3 and confirm it reproduces the known anchors — ETS1's closest approach to the crystal at about 0.87 angstroms, TBP at 0.59, and DUX4 far out at about 10 angstroms, which is why DUX4 has zero fnat survivors and never reaches training. The script literally prints a VALIDATION line against these; a mismatch tells you the correspondence broke or you used the wrong ensemble source.</a:t>
            </a:r>
          </a:p>
          <a:p/>
          <a:p>
            <a:r>
              <a:t>Five: the pass list into the fnat gate is non-empty. An empty one is designed to exit non-zero and halt the whole DAG — fail-loud, so you never silently train on nothing.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reference table — you won't read it out, it's for the slides-as-document use. Point at the three that matter most and move on.</a:t>
            </a:r>
          </a:p>
          <a:p/>
          <a:p>
            <a:r>
              <a:t>The three load-bearing knobs: metal-cage-k at 20 is the cage stiffness — that's the answer if anyone asks 'what k for the metal cage.' restraint-k at 10 is the backbone. dna-restraint-k defaults to None, meaning DNA rides the protein's 10; set it to 1.5 and you get the relaxed variant. Everything else is the default every standard pilot uses.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operational companion to the flag table — config variables, paths, cluster specifics.</a:t>
            </a:r>
          </a:p>
          <a:p/>
          <a:p>
            <a:r>
              <a:t>Most Stage-3 behavior is set by exported variables in the pilot .sh: ramp schedule, per-stage steps, N_FRAMES for array size, the recovery ramp. The relaxed and cage-off arms are pure config opt-ins — no code changes.</a:t>
            </a:r>
          </a:p>
          <a:p/>
          <a:p>
            <a:r>
              <a:t>I/O: reads docked states from stage2_docked, writes to stage3_min (or _dnarelax), plus the fnat CSV. Downstream the RMSD analysis tracks metal_cage vs legacy variants so the cage's structural effect stays auditable.</a:t>
            </a:r>
          </a:p>
          <a:p/>
          <a:p>
            <a:r>
              <a:t>Cluster: endeavour, rohs partition, rohs_102, rtx5000 GPU, bioemu env — that's where OpenMM/PDBFixer live. The gotcha that bites successors: cap BLAS threads to 1 before any login-node numpy import or it fails against the process cap.</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coverage picture — what exists versus what's still to do.</a:t>
            </a:r>
          </a:p>
          <a:p/>
          <a:p>
            <a:r>
              <a:t>Thirteen pilots discovered. Structural fidelity covers all thirteen, including DUX4 as the zero-percent reference (excluded dimer, no fnat survivors). Benchmark accuracy covers twelve — all but DUX4. The DNA-relaxed variant is the frontier: seven have data, two are trained, one is evaluated. The frozen pipeline is mature; the relaxed one is an early, promising extension.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recap — hit the six load-bearing facts and land the closing point.</a:t>
            </a:r>
          </a:p>
          <a:p/>
          <a:p>
            <a:r>
              <a:t>Contract: relax-the-strain-preserve-the-pose. Force field ff14SB + GB-Neck2, whose missing counter-ions cause the over-compaction caveat. Restraints pin the backbone at 10 and free side chains. The metal cage restrains coordination geometry at 20 rather than simulating an unparameterizable ion. The three-phase ramp resolves clashes gently where one hard minimization diverges. And the DNA stiffness — 10 frozen vs 1.5 relaxed with late release — is the knob that defines what augmentation tests.</a:t>
            </a:r>
          </a:p>
          <a:p/>
          <a:p>
            <a:r>
              <a:t>Close on provenance: everything here is verified against the actual 409-line stage3_minimize.py from endeavour, saved as reference artifacts alongside the slides. Ground truth, not paraphrase.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01168"/>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548640"/>
          </a:xfrm>
          <a:prstGeom prst="rect">
            <a:avLst/>
          </a:prstGeom>
          <a:noFill/>
        </p:spPr>
        <p:txBody>
          <a:bodyPr wrap="square">
            <a:spAutoFit/>
          </a:bodyPr>
          <a:lstStyle/>
          <a:p>
            <a:r>
              <a:rPr sz="1800" b="1" i="0">
                <a:solidFill>
                  <a:srgbClr val="2E7FA8"/>
                </a:solidFill>
                <a:latin typeface="Calibri"/>
              </a:rPr>
              <a:t>Chapter 9 · The physics stage</a:t>
            </a:r>
          </a:p>
        </p:txBody>
      </p:sp>
      <p:sp>
        <p:nvSpPr>
          <p:cNvPr id="4" name="TextBox 3"/>
          <p:cNvSpPr txBox="1"/>
          <p:nvPr/>
        </p:nvSpPr>
        <p:spPr>
          <a:xfrm>
            <a:off x="822960" y="2560320"/>
            <a:ext cx="10515600" cy="1645920"/>
          </a:xfrm>
          <a:prstGeom prst="rect">
            <a:avLst/>
          </a:prstGeom>
          <a:noFill/>
        </p:spPr>
        <p:txBody>
          <a:bodyPr wrap="square">
            <a:spAutoFit/>
          </a:bodyPr>
          <a:lstStyle/>
          <a:p>
            <a:r>
              <a:rPr sz="4000" b="1" i="0">
                <a:solidFill>
                  <a:srgbClr val="1A1A1A"/>
                </a:solidFill>
                <a:latin typeface="Calibri"/>
              </a:rPr>
              <a:t>Stage 3: Energy Minimization</a:t>
            </a:r>
          </a:p>
        </p:txBody>
      </p:sp>
      <p:sp>
        <p:nvSpPr>
          <p:cNvPr id="5" name="TextBox 4"/>
          <p:cNvSpPr txBox="1"/>
          <p:nvPr/>
        </p:nvSpPr>
        <p:spPr>
          <a:xfrm>
            <a:off x="822960" y="4297680"/>
            <a:ext cx="10515600" cy="1463040"/>
          </a:xfrm>
          <a:prstGeom prst="rect">
            <a:avLst/>
          </a:prstGeom>
          <a:noFill/>
        </p:spPr>
        <p:txBody>
          <a:bodyPr wrap="square">
            <a:spAutoFit/>
          </a:bodyPr>
          <a:lstStyle/>
          <a:p>
            <a:r>
              <a:rPr sz="1800" b="0" i="0">
                <a:solidFill>
                  <a:srgbClr val="6B6B6B"/>
                </a:solidFill>
                <a:latin typeface="Calibri"/>
              </a:rPr>
              <a:t>Relaxing docked TF–DNA poses without losing the bound geometry  ·  engine: stage3_minimize.py (OpenMM, v5)  ·  runs in the bioemu env on endeavour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822960"/>
          </a:xfrm>
          <a:prstGeom prst="rect">
            <a:avLst/>
          </a:prstGeom>
          <a:noFill/>
        </p:spPr>
        <p:txBody>
          <a:bodyPr wrap="square">
            <a:spAutoFit/>
          </a:bodyPr>
          <a:lstStyle/>
          <a:p>
            <a:r>
              <a:rPr sz="2600" b="1" i="0">
                <a:solidFill>
                  <a:srgbClr val="1A1A1A"/>
                </a:solidFill>
                <a:latin typeface="Calibri"/>
              </a:rPr>
              <a:t>Where Stage 3 sits in the pipeline</a:t>
            </a:r>
          </a:p>
        </p:txBody>
      </p:sp>
      <p:sp>
        <p:nvSpPr>
          <p:cNvPr id="4" name="TextBox 3"/>
          <p:cNvSpPr txBox="1"/>
          <p:nvPr/>
        </p:nvSpPr>
        <p:spPr>
          <a:xfrm>
            <a:off x="640080" y="1371600"/>
            <a:ext cx="10972800" cy="5120640"/>
          </a:xfrm>
          <a:prstGeom prst="rect">
            <a:avLst/>
          </a:prstGeom>
          <a:noFill/>
        </p:spPr>
        <p:txBody>
          <a:bodyPr wrap="square">
            <a:spAutoFit/>
          </a:bodyPr>
          <a:lstStyle/>
          <a:p>
            <a:pPr>
              <a:spcAft>
                <a:spcPts val="400"/>
              </a:spcAft>
            </a:pPr>
            <a:r>
              <a:rPr sz="1600" b="0" i="0">
                <a:solidFill>
                  <a:srgbClr val="1A1A1A"/>
                </a:solidFill>
                <a:latin typeface="Calibri"/>
              </a:rPr>
              <a:t>• Input — from Stage 2: a BioEmu conformer Kabsch-fit onto the crystal DNA</a:t>
            </a:r>
          </a:p>
          <a:p>
            <a:pPr lvl="1">
              <a:spcAft>
                <a:spcPts val="400"/>
              </a:spcAft>
            </a:pPr>
            <a:r>
              <a:rPr sz="1400" b="0" i="0">
                <a:solidFill>
                  <a:srgbClr val="6B6B6B"/>
                </a:solidFill>
                <a:latin typeface="Calibri"/>
              </a:rPr>
              <a:t>– right global placement, but a strained new interface (clashes, stretched bonds)</a:t>
            </a:r>
          </a:p>
          <a:p>
            <a:pPr>
              <a:spcAft>
                <a:spcPts val="400"/>
              </a:spcAft>
            </a:pPr>
            <a:r>
              <a:rPr sz="1600" b="1" i="0">
                <a:solidFill>
                  <a:srgbClr val="2E7FA8"/>
                </a:solidFill>
                <a:latin typeface="Calibri"/>
              </a:rPr>
              <a:t>• Stage 3 — this chapter: one physics-based minimization per frame</a:t>
            </a:r>
          </a:p>
          <a:p>
            <a:pPr>
              <a:spcAft>
                <a:spcPts val="400"/>
              </a:spcAft>
            </a:pPr>
            <a:r>
              <a:rPr sz="1600" b="0" i="0">
                <a:solidFill>
                  <a:srgbClr val="1A1A1A"/>
                </a:solidFill>
                <a:latin typeface="Calibri"/>
              </a:rPr>
              <a:t>• Output — to the fnat gate (Ch. 8) and, for survivors, Stage 4 featurization</a:t>
            </a:r>
          </a:p>
          <a:p>
            <a:pPr lvl="1">
              <a:spcAft>
                <a:spcPts val="400"/>
              </a:spcAft>
            </a:pPr>
            <a:r>
              <a:rPr sz="1200" b="0" i="0">
                <a:solidFill>
                  <a:srgbClr val="6B6B6B"/>
                </a:solidFill>
                <a:latin typeface="Consolas"/>
              </a:rPr>
              <a:t>– output/stage3_min/&lt;tf&gt;/&lt;pdb&gt;_state_NNN.pdb  +  per-pilot &lt;pdb&gt;_fnat.csv</a:t>
            </a:r>
          </a:p>
          <a:p>
            <a:pPr>
              <a:spcAft>
                <a:spcPts val="400"/>
              </a:spcAft>
            </a:pPr>
            <a:r>
              <a:rPr sz="1600" b="1" i="0">
                <a:solidFill>
                  <a:srgbClr val="1A1A1A"/>
                </a:solidFill>
                <a:latin typeface="Calibri"/>
              </a:rPr>
              <a:t>• The contract, stated once and returned to on every slide:</a:t>
            </a:r>
          </a:p>
          <a:p>
            <a:pPr lvl="1">
              <a:spcAft>
                <a:spcPts val="400"/>
              </a:spcAft>
            </a:pPr>
            <a:r>
              <a:rPr sz="1400" b="0" i="1">
                <a:solidFill>
                  <a:srgbClr val="1A1A1A"/>
                </a:solidFill>
                <a:latin typeface="Calibri"/>
              </a:rPr>
              <a:t>– “relax the strain, preserve the pose” — remove clashes, keep the docked frame's identity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377440"/>
            <a:ext cx="10515600" cy="640080"/>
          </a:xfrm>
          <a:prstGeom prst="rect">
            <a:avLst/>
          </a:prstGeom>
          <a:noFill/>
        </p:spPr>
        <p:txBody>
          <a:bodyPr wrap="square">
            <a:spAutoFit/>
          </a:bodyPr>
          <a:lstStyle/>
          <a:p>
            <a:r>
              <a:rPr sz="2000" b="1" i="0">
                <a:solidFill>
                  <a:srgbClr val="CFE4F0"/>
                </a:solidFill>
                <a:latin typeface="Calibri"/>
              </a:rPr>
              <a:t>9.0</a:t>
            </a:r>
          </a:p>
        </p:txBody>
      </p:sp>
      <p:sp>
        <p:nvSpPr>
          <p:cNvPr id="4" name="TextBox 3"/>
          <p:cNvSpPr txBox="1"/>
          <p:nvPr/>
        </p:nvSpPr>
        <p:spPr>
          <a:xfrm>
            <a:off x="822960" y="2926080"/>
            <a:ext cx="10515600" cy="1280160"/>
          </a:xfrm>
          <a:prstGeom prst="rect">
            <a:avLst/>
          </a:prstGeom>
          <a:noFill/>
        </p:spPr>
        <p:txBody>
          <a:bodyPr wrap="square">
            <a:spAutoFit/>
          </a:bodyPr>
          <a:lstStyle/>
          <a:p>
            <a:r>
              <a:rPr sz="3400" b="1" i="0">
                <a:solidFill>
                  <a:srgbClr val="FFFFFF"/>
                </a:solidFill>
                <a:latin typeface="Calibri"/>
              </a:rPr>
              <a:t>The per-state flow</a:t>
            </a:r>
          </a:p>
        </p:txBody>
      </p:sp>
      <p:sp>
        <p:nvSpPr>
          <p:cNvPr id="5" name="TextBox 4"/>
          <p:cNvSpPr txBox="1"/>
          <p:nvPr/>
        </p:nvSpPr>
        <p:spPr>
          <a:xfrm>
            <a:off x="822960" y="4297680"/>
            <a:ext cx="10515600" cy="1280160"/>
          </a:xfrm>
          <a:prstGeom prst="rect">
            <a:avLst/>
          </a:prstGeom>
          <a:noFill/>
        </p:spPr>
        <p:txBody>
          <a:bodyPr wrap="square">
            <a:spAutoFit/>
          </a:bodyPr>
          <a:lstStyle/>
          <a:p>
            <a:r>
              <a:rPr sz="1700" b="0" i="0">
                <a:solidFill>
                  <a:srgbClr val="E4EFF5"/>
                </a:solidFill>
                <a:latin typeface="Calibri"/>
              </a:rPr>
              <a:t>One BioEmu frame per invocation, six steps — the skeleton every later slide hangs detail 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822960"/>
          </a:xfrm>
          <a:prstGeom prst="rect">
            <a:avLst/>
          </a:prstGeom>
          <a:noFill/>
        </p:spPr>
        <p:txBody>
          <a:bodyPr wrap="square">
            <a:spAutoFit/>
          </a:bodyPr>
          <a:lstStyle/>
          <a:p>
            <a:r>
              <a:rPr sz="2600" b="1" i="0">
                <a:solidFill>
                  <a:srgbClr val="1A1A1A"/>
                </a:solidFill>
                <a:latin typeface="Calibri"/>
              </a:rPr>
              <a:t>9.0 · Six steps per state (from the engine docstring)</a:t>
            </a:r>
          </a:p>
        </p:txBody>
      </p:sp>
      <p:sp>
        <p:nvSpPr>
          <p:cNvPr id="4" name="TextBox 3"/>
          <p:cNvSpPr txBox="1"/>
          <p:nvPr/>
        </p:nvSpPr>
        <p:spPr>
          <a:xfrm>
            <a:off x="640080" y="1371600"/>
            <a:ext cx="10972800" cy="5120640"/>
          </a:xfrm>
          <a:prstGeom prst="rect">
            <a:avLst/>
          </a:prstGeom>
          <a:noFill/>
        </p:spPr>
        <p:txBody>
          <a:bodyPr wrap="square">
            <a:spAutoFit/>
          </a:bodyPr>
          <a:lstStyle/>
          <a:p>
            <a:pPr>
              <a:spcAft>
                <a:spcPts val="400"/>
              </a:spcAft>
            </a:pPr>
            <a:r>
              <a:rPr sz="1600" b="0" i="0">
                <a:solidFill>
                  <a:srgbClr val="1A1A1A"/>
                </a:solidFill>
                <a:latin typeface="Calibri"/>
              </a:rPr>
              <a:t>• 1. PDBFixer repair — AND record every structural metal + its coordinating side-chain atoms, before stripping heterogens</a:t>
            </a:r>
          </a:p>
          <a:p>
            <a:pPr>
              <a:spcAft>
                <a:spcPts val="400"/>
              </a:spcAft>
            </a:pPr>
            <a:r>
              <a:rPr sz="1600" b="0" i="0">
                <a:solidFill>
                  <a:srgbClr val="1A1A1A"/>
                </a:solidFill>
                <a:latin typeface="Calibri"/>
              </a:rPr>
              <a:t>• 2. Add hydrogens (Modeller; forcefield = ff14SB + GB-Neck2)</a:t>
            </a:r>
          </a:p>
          <a:p>
            <a:pPr>
              <a:spcAft>
                <a:spcPts val="400"/>
              </a:spcAft>
            </a:pPr>
            <a:r>
              <a:rPr sz="1600" b="0" i="0">
                <a:solidFill>
                  <a:srgbClr val="1A1A1A"/>
                </a:solidFill>
                <a:latin typeface="Calibri"/>
              </a:rPr>
              <a:t>• 3. Phase 0 — hydrogen-only minimization, heavy atoms frozen (mass = 0)</a:t>
            </a:r>
          </a:p>
          <a:p>
            <a:pPr>
              <a:spcAft>
                <a:spcPts val="400"/>
              </a:spcAft>
            </a:pPr>
            <a:r>
              <a:rPr sz="1600" b="1" i="0">
                <a:solidFill>
                  <a:srgbClr val="1A1A1A"/>
                </a:solidFill>
                <a:latin typeface="Calibri"/>
              </a:rPr>
              <a:t>• 4. Phase 1 — vdW ramp σ = 0.1→1.0, with backbone + metal-cage restraints active</a:t>
            </a:r>
          </a:p>
          <a:p>
            <a:pPr>
              <a:spcAft>
                <a:spcPts val="400"/>
              </a:spcAft>
            </a:pPr>
            <a:r>
              <a:rPr sz="1600" b="0" i="0">
                <a:solidFill>
                  <a:srgbClr val="1A1A1A"/>
                </a:solidFill>
                <a:latin typeface="Calibri"/>
              </a:rPr>
              <a:t>• 5. Phase 2 — final minimization at full vdW</a:t>
            </a:r>
          </a:p>
          <a:p>
            <a:pPr>
              <a:spcAft>
                <a:spcPts val="400"/>
              </a:spcAft>
            </a:pPr>
            <a:r>
              <a:rPr sz="1600" b="0" i="0">
                <a:solidFill>
                  <a:srgbClr val="1A1A1A"/>
                </a:solidFill>
                <a:latin typeface="Calibri"/>
              </a:rPr>
              <a:t>• 6. Strip hydrogens, write the minimized PDB</a:t>
            </a:r>
          </a:p>
          <a:p>
            <a:pPr>
              <a:spcAft>
                <a:spcPts val="400"/>
              </a:spcAft>
            </a:pPr>
            <a:r>
              <a:rPr sz="1600" b="1" i="0">
                <a:solidFill>
                  <a:srgbClr val="2E7FA8"/>
                </a:solidFill>
                <a:latin typeface="Calibri"/>
              </a:rPr>
              <a:t>• Idempotent &amp; array-parallel:</a:t>
            </a:r>
          </a:p>
          <a:p>
            <a:pPr lvl="1">
              <a:spcAft>
                <a:spcPts val="400"/>
              </a:spcAft>
            </a:pPr>
            <a:r>
              <a:rPr sz="1400" b="0" i="0">
                <a:solidFill>
                  <a:srgbClr val="6B6B6B"/>
                </a:solidFill>
                <a:latin typeface="Calibri"/>
              </a:rPr>
              <a:t>– one SLURM array task per frame; skips if output exists or input missing → re-submit fills gaps</a:t>
            </a:r>
          </a:p>
          <a:p>
            <a:pPr lvl="1">
              <a:spcAft>
                <a:spcPts val="400"/>
              </a:spcAft>
            </a:pPr>
            <a:r>
              <a:rPr sz="1200" b="0" i="0">
                <a:solidFill>
                  <a:srgbClr val="6B6B6B"/>
                </a:solidFill>
                <a:latin typeface="Consolas"/>
              </a:rPr>
              <a:t>– N_FRAMES in the pilot config sets the array size (tbp = 99, egr1 = 98)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377440"/>
            <a:ext cx="10515600" cy="640080"/>
          </a:xfrm>
          <a:prstGeom prst="rect">
            <a:avLst/>
          </a:prstGeom>
          <a:noFill/>
        </p:spPr>
        <p:txBody>
          <a:bodyPr wrap="square">
            <a:spAutoFit/>
          </a:bodyPr>
          <a:lstStyle/>
          <a:p>
            <a:r>
              <a:rPr sz="2000" b="1" i="0">
                <a:solidFill>
                  <a:srgbClr val="CFE4F0"/>
                </a:solidFill>
                <a:latin typeface="Calibri"/>
              </a:rPr>
              <a:t>9.1</a:t>
            </a:r>
          </a:p>
        </p:txBody>
      </p:sp>
      <p:sp>
        <p:nvSpPr>
          <p:cNvPr id="4" name="TextBox 3"/>
          <p:cNvSpPr txBox="1"/>
          <p:nvPr/>
        </p:nvSpPr>
        <p:spPr>
          <a:xfrm>
            <a:off x="822960" y="2926080"/>
            <a:ext cx="10515600" cy="1280160"/>
          </a:xfrm>
          <a:prstGeom prst="rect">
            <a:avLst/>
          </a:prstGeom>
          <a:noFill/>
        </p:spPr>
        <p:txBody>
          <a:bodyPr wrap="square">
            <a:spAutoFit/>
          </a:bodyPr>
          <a:lstStyle/>
          <a:p>
            <a:r>
              <a:rPr sz="3400" b="1" i="0">
                <a:solidFill>
                  <a:srgbClr val="FFFFFF"/>
                </a:solidFill>
                <a:latin typeface="Calibri"/>
              </a:rPr>
              <a:t>Why minimize a docked pose at all?</a:t>
            </a:r>
          </a:p>
        </p:txBody>
      </p:sp>
      <p:sp>
        <p:nvSpPr>
          <p:cNvPr id="5" name="TextBox 4"/>
          <p:cNvSpPr txBox="1"/>
          <p:nvPr/>
        </p:nvSpPr>
        <p:spPr>
          <a:xfrm>
            <a:off x="822960" y="4297680"/>
            <a:ext cx="10515600" cy="1280160"/>
          </a:xfrm>
          <a:prstGeom prst="rect">
            <a:avLst/>
          </a:prstGeom>
          <a:noFill/>
        </p:spPr>
        <p:txBody>
          <a:bodyPr wrap="square">
            <a:spAutoFit/>
          </a:bodyPr>
          <a:lstStyle/>
          <a:p>
            <a:r>
              <a:rPr sz="1700" b="0" i="0">
                <a:solidFill>
                  <a:srgbClr val="E4EFF5"/>
                </a:solidFill>
                <a:latin typeface="Calibri"/>
              </a:rPr>
              <a:t>The docked interface is strained; DeepPBS would read that strain as chemistry.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822960"/>
          </a:xfrm>
          <a:prstGeom prst="rect">
            <a:avLst/>
          </a:prstGeom>
          <a:noFill/>
        </p:spPr>
        <p:txBody>
          <a:bodyPr wrap="square">
            <a:spAutoFit/>
          </a:bodyPr>
          <a:lstStyle/>
          <a:p>
            <a:r>
              <a:rPr sz="2600" b="1" i="0">
                <a:solidFill>
                  <a:srgbClr val="1A1A1A"/>
                </a:solidFill>
                <a:latin typeface="Calibri"/>
              </a:rPr>
              <a:t>9.1 · The problem minimization solves</a:t>
            </a:r>
          </a:p>
        </p:txBody>
      </p:sp>
      <p:sp>
        <p:nvSpPr>
          <p:cNvPr id="4" name="TextBox 3"/>
          <p:cNvSpPr txBox="1"/>
          <p:nvPr/>
        </p:nvSpPr>
        <p:spPr>
          <a:xfrm>
            <a:off x="640080" y="1371600"/>
            <a:ext cx="10972800" cy="5120640"/>
          </a:xfrm>
          <a:prstGeom prst="rect">
            <a:avLst/>
          </a:prstGeom>
          <a:noFill/>
        </p:spPr>
        <p:txBody>
          <a:bodyPr wrap="square">
            <a:spAutoFit/>
          </a:bodyPr>
          <a:lstStyle/>
          <a:p>
            <a:pPr>
              <a:spcAft>
                <a:spcPts val="400"/>
              </a:spcAft>
            </a:pPr>
            <a:r>
              <a:rPr sz="1600" b="0" i="0">
                <a:solidFill>
                  <a:srgbClr val="1A1A1A"/>
                </a:solidFill>
                <a:latin typeface="Calibri"/>
              </a:rPr>
              <a:t>• Stage 2's docked pose has the right global placement but a strained interface</a:t>
            </a:r>
          </a:p>
          <a:p>
            <a:pPr lvl="1">
              <a:spcAft>
                <a:spcPts val="400"/>
              </a:spcAft>
            </a:pPr>
            <a:r>
              <a:rPr sz="1400" b="0" i="0">
                <a:solidFill>
                  <a:srgbClr val="6B6B6B"/>
                </a:solidFill>
                <a:latin typeface="Calibri"/>
              </a:rPr>
              <a:t>– atomic clashes, stretched bonds, strained contacts at DNA the protein never sampled against</a:t>
            </a:r>
          </a:p>
          <a:p>
            <a:pPr>
              <a:spcAft>
                <a:spcPts val="400"/>
              </a:spcAft>
            </a:pPr>
            <a:r>
              <a:rPr sz="1600" b="1" i="0">
                <a:solidFill>
                  <a:srgbClr val="1A1A1A"/>
                </a:solidFill>
                <a:latin typeface="Calibri"/>
              </a:rPr>
              <a:t>• DeepPBS reads interface geometry → un-relaxed clashes become features, not chemistry</a:t>
            </a:r>
          </a:p>
          <a:p>
            <a:pPr>
              <a:spcAft>
                <a:spcPts val="400"/>
              </a:spcAft>
            </a:pPr>
            <a:r>
              <a:rPr sz="1600" b="1" i="0">
                <a:solidFill>
                  <a:srgbClr val="2E7FA8"/>
                </a:solidFill>
                <a:latin typeface="Calibri"/>
              </a:rPr>
              <a:t>• The exact clash diagnostic (from count_clashes in the engine):</a:t>
            </a:r>
          </a:p>
          <a:p>
            <a:pPr lvl="1">
              <a:spcAft>
                <a:spcPts val="400"/>
              </a:spcAft>
            </a:pPr>
            <a:r>
              <a:rPr sz="1300" b="0" i="0">
                <a:solidFill>
                  <a:srgbClr val="1A1A1A"/>
                </a:solidFill>
                <a:latin typeface="Consolas"/>
              </a:rPr>
              <a:t>– heavy-atom protein–DNA pairs closer than 0.24 nm (2.4 Å)</a:t>
            </a:r>
          </a:p>
          <a:p>
            <a:pPr lvl="1">
              <a:spcAft>
                <a:spcPts val="400"/>
              </a:spcAft>
            </a:pPr>
            <a:r>
              <a:rPr sz="1200" b="0" i="0">
                <a:solidFill>
                  <a:srgbClr val="6B6B6B"/>
                </a:solidFill>
                <a:latin typeface="Calibri"/>
              </a:rPr>
              <a:t>– protein = 20 standard residues (+ HID/HIE/HIP); DNA = DA/DG/DC/DT; H excluded</a:t>
            </a:r>
          </a:p>
          <a:p>
            <a:pPr lvl="1">
              <a:spcAft>
                <a:spcPts val="400"/>
              </a:spcAft>
            </a:pPr>
            <a:r>
              <a:rPr sz="1200" b="0" i="0">
                <a:solidFill>
                  <a:srgbClr val="6B6B6B"/>
                </a:solidFill>
                <a:latin typeface="Calibri"/>
              </a:rPr>
              <a:t>– printed at Initial, after every ramp stage, and at Final — plus the min protein–DNA distance</a:t>
            </a:r>
          </a:p>
          <a:p>
            <a:pPr>
              <a:spcAft>
                <a:spcPts val="400"/>
              </a:spcAft>
            </a:pPr>
            <a:r>
              <a:rPr sz="1600" b="0" i="0">
                <a:solidFill>
                  <a:srgbClr val="D1495B"/>
                </a:solidFill>
                <a:latin typeface="Calibri"/>
              </a:rPr>
              <a:t>• Caveat: PDBFixer is told missingResidues = {} → repairs missing atoms, NOT whole missing residues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822960"/>
          </a:xfrm>
          <a:prstGeom prst="rect">
            <a:avLst/>
          </a:prstGeom>
          <a:noFill/>
        </p:spPr>
        <p:txBody>
          <a:bodyPr wrap="square">
            <a:spAutoFit/>
          </a:bodyPr>
          <a:lstStyle/>
          <a:p>
            <a:r>
              <a:rPr sz="2400" b="1" i="0">
                <a:solidFill>
                  <a:srgbClr val="1A1A1A"/>
                </a:solidFill>
                <a:latin typeface="Calibri"/>
              </a:rPr>
              <a:t>9.1 / 9.5 · The clash trajectory — clashes 73 → 0</a:t>
            </a:r>
          </a:p>
        </p:txBody>
      </p:sp>
      <p:pic>
        <p:nvPicPr>
          <p:cNvPr id="4" name="Picture 3" descr="vaf43f696_F_clash_trajectory.png"/>
          <p:cNvPicPr>
            <a:picLocks noChangeAspect="1"/>
          </p:cNvPicPr>
          <p:nvPr/>
        </p:nvPicPr>
        <p:blipFill>
          <a:blip r:embed="rId2"/>
          <a:stretch>
            <a:fillRect/>
          </a:stretch>
        </p:blipFill>
        <p:spPr>
          <a:xfrm>
            <a:off x="457200" y="1371600"/>
            <a:ext cx="7315200" cy="3942238"/>
          </a:xfrm>
          <a:prstGeom prst="rect">
            <a:avLst/>
          </a:prstGeom>
        </p:spPr>
      </p:pic>
      <p:sp>
        <p:nvSpPr>
          <p:cNvPr id="5" name="TextBox 4"/>
          <p:cNvSpPr txBox="1"/>
          <p:nvPr/>
        </p:nvSpPr>
        <p:spPr>
          <a:xfrm>
            <a:off x="457200" y="5359558"/>
            <a:ext cx="7315200" cy="822960"/>
          </a:xfrm>
          <a:prstGeom prst="rect">
            <a:avLst/>
          </a:prstGeom>
          <a:noFill/>
        </p:spPr>
        <p:txBody>
          <a:bodyPr wrap="square">
            <a:spAutoFit/>
          </a:bodyPr>
          <a:lstStyle/>
          <a:p>
            <a:r>
              <a:rPr sz="1100" b="0" i="1">
                <a:solidFill>
                  <a:srgbClr val="6B6B6B"/>
                </a:solidFill>
                <a:latin typeface="Calibri"/>
              </a:rPr>
              <a:t>FOXA (1vtn) state 001. Red = protein–DNA heavy-atom clashes; blue = minimum protein–DNA distance. Phase 0 (H-min) freezes heavy atoms, so the clash count is unchanged from init; the σ-ramp (shaded, Phase 1) grows vdW radii 0.1→1.0, resolving clashes and opening the min contact distance; Phase 2 is the final full-radius minimization.</a:t>
            </a:r>
          </a:p>
        </p:txBody>
      </p:sp>
      <p:sp>
        <p:nvSpPr>
          <p:cNvPr id="6" name="TextBox 5"/>
          <p:cNvSpPr txBox="1"/>
          <p:nvPr/>
        </p:nvSpPr>
        <p:spPr>
          <a:xfrm>
            <a:off x="7955279" y="1371600"/>
            <a:ext cx="4023360" cy="4937760"/>
          </a:xfrm>
          <a:prstGeom prst="rect">
            <a:avLst/>
          </a:prstGeom>
          <a:noFill/>
        </p:spPr>
        <p:txBody>
          <a:bodyPr wrap="square">
            <a:spAutoFit/>
          </a:bodyPr>
          <a:lstStyle/>
          <a:p>
            <a:pPr>
              <a:spcAft>
                <a:spcPts val="600"/>
              </a:spcAft>
            </a:pPr>
            <a:r>
              <a:rPr sz="1400" b="1" i="0">
                <a:solidFill>
                  <a:srgbClr val="1A1A1A"/>
                </a:solidFill>
                <a:latin typeface="Calibri"/>
              </a:rPr>
              <a:t>• Clashes flat through Phase 0</a:t>
            </a:r>
          </a:p>
          <a:p>
            <a:pPr lvl="1">
              <a:spcAft>
                <a:spcPts val="600"/>
              </a:spcAft>
            </a:pPr>
            <a:r>
              <a:rPr sz="1200" b="0" i="0">
                <a:solidFill>
                  <a:srgbClr val="6B6B6B"/>
                </a:solidFill>
                <a:latin typeface="Calibri"/>
              </a:rPr>
              <a:t>– heavy atoms frozen → nothing moves yet</a:t>
            </a:r>
          </a:p>
          <a:p>
            <a:pPr>
              <a:spcAft>
                <a:spcPts val="600"/>
              </a:spcAft>
            </a:pPr>
            <a:r>
              <a:rPr sz="1400" b="0" i="0">
                <a:solidFill>
                  <a:srgbClr val="1A1A1A"/>
                </a:solidFill>
                <a:latin typeface="Calibri"/>
              </a:rPr>
              <a:t>• Collapse happens at σ ≥ 0.5</a:t>
            </a:r>
          </a:p>
          <a:p>
            <a:pPr lvl="1">
              <a:spcAft>
                <a:spcPts val="600"/>
              </a:spcAft>
            </a:pPr>
            <a:r>
              <a:rPr sz="1200" b="1" i="0">
                <a:solidFill>
                  <a:srgbClr val="2E7FA8"/>
                </a:solidFill>
                <a:latin typeface="Calibri"/>
              </a:rPr>
              <a:t>– 73 → 0 as atoms 'swell' to full radius</a:t>
            </a:r>
          </a:p>
          <a:p>
            <a:pPr>
              <a:spcAft>
                <a:spcPts val="600"/>
              </a:spcAft>
            </a:pPr>
            <a:r>
              <a:rPr sz="1400" b="0" i="0">
                <a:solidFill>
                  <a:srgbClr val="2E7FA8"/>
                </a:solidFill>
                <a:latin typeface="Calibri"/>
              </a:rPr>
              <a:t>• Min distance opens 0.7 → 2.6 Å</a:t>
            </a:r>
          </a:p>
          <a:p>
            <a:pPr>
              <a:spcAft>
                <a:spcPts val="600"/>
              </a:spcAft>
            </a:pPr>
            <a:r>
              <a:rPr sz="1200" b="0" i="0">
                <a:solidFill>
                  <a:srgbClr val="6B6B6B"/>
                </a:solidFill>
                <a:latin typeface="Calibri"/>
              </a:rPr>
              <a:t>• This is the single best 'it worked' diagnostic per state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377440"/>
            <a:ext cx="10515600" cy="640080"/>
          </a:xfrm>
          <a:prstGeom prst="rect">
            <a:avLst/>
          </a:prstGeom>
          <a:noFill/>
        </p:spPr>
        <p:txBody>
          <a:bodyPr wrap="square">
            <a:spAutoFit/>
          </a:bodyPr>
          <a:lstStyle/>
          <a:p>
            <a:r>
              <a:rPr sz="2000" b="1" i="0">
                <a:solidFill>
                  <a:srgbClr val="CFE4F0"/>
                </a:solidFill>
                <a:latin typeface="Calibri"/>
              </a:rPr>
              <a:t>9.2</a:t>
            </a:r>
          </a:p>
        </p:txBody>
      </p:sp>
      <p:sp>
        <p:nvSpPr>
          <p:cNvPr id="4" name="TextBox 3"/>
          <p:cNvSpPr txBox="1"/>
          <p:nvPr/>
        </p:nvSpPr>
        <p:spPr>
          <a:xfrm>
            <a:off x="822960" y="2926080"/>
            <a:ext cx="10515600" cy="1280160"/>
          </a:xfrm>
          <a:prstGeom prst="rect">
            <a:avLst/>
          </a:prstGeom>
          <a:noFill/>
        </p:spPr>
        <p:txBody>
          <a:bodyPr wrap="square">
            <a:spAutoFit/>
          </a:bodyPr>
          <a:lstStyle/>
          <a:p>
            <a:r>
              <a:rPr sz="3400" b="1" i="0">
                <a:solidFill>
                  <a:srgbClr val="FFFFFF"/>
                </a:solidFill>
                <a:latin typeface="Calibri"/>
              </a:rPr>
              <a:t>The force field &amp; solvent model</a:t>
            </a:r>
          </a:p>
        </p:txBody>
      </p:sp>
      <p:sp>
        <p:nvSpPr>
          <p:cNvPr id="5" name="TextBox 4"/>
          <p:cNvSpPr txBox="1"/>
          <p:nvPr/>
        </p:nvSpPr>
        <p:spPr>
          <a:xfrm>
            <a:off x="822960" y="4297680"/>
            <a:ext cx="10515600" cy="1280160"/>
          </a:xfrm>
          <a:prstGeom prst="rect">
            <a:avLst/>
          </a:prstGeom>
          <a:noFill/>
        </p:spPr>
        <p:txBody>
          <a:bodyPr wrap="square">
            <a:spAutoFit/>
          </a:bodyPr>
          <a:lstStyle/>
          <a:p>
            <a:r>
              <a:rPr sz="1700" b="0" i="0">
                <a:solidFill>
                  <a:srgbClr val="E4EFF5"/>
                </a:solidFill>
                <a:latin typeface="Calibri"/>
              </a:rPr>
              <a:t>What 'downhill' means — and the one scientific caveat that originates here.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822960"/>
          </a:xfrm>
          <a:prstGeom prst="rect">
            <a:avLst/>
          </a:prstGeom>
          <a:noFill/>
        </p:spPr>
        <p:txBody>
          <a:bodyPr wrap="square">
            <a:spAutoFit/>
          </a:bodyPr>
          <a:lstStyle/>
          <a:p>
            <a:r>
              <a:rPr sz="2600" b="1" i="0">
                <a:solidFill>
                  <a:srgbClr val="1A1A1A"/>
                </a:solidFill>
                <a:latin typeface="Calibri"/>
              </a:rPr>
              <a:t>9.2 · Energy function (verbatim from the engine)</a:t>
            </a:r>
          </a:p>
        </p:txBody>
      </p:sp>
      <p:sp>
        <p:nvSpPr>
          <p:cNvPr id="4" name="TextBox 3"/>
          <p:cNvSpPr txBox="1"/>
          <p:nvPr/>
        </p:nvSpPr>
        <p:spPr>
          <a:xfrm>
            <a:off x="640080" y="1371600"/>
            <a:ext cx="10972800" cy="5120640"/>
          </a:xfrm>
          <a:prstGeom prst="rect">
            <a:avLst/>
          </a:prstGeom>
          <a:noFill/>
        </p:spPr>
        <p:txBody>
          <a:bodyPr wrap="square">
            <a:spAutoFit/>
          </a:bodyPr>
          <a:lstStyle/>
          <a:p>
            <a:pPr>
              <a:spcAft>
                <a:spcPts val="400"/>
              </a:spcAft>
            </a:pPr>
            <a:r>
              <a:rPr sz="1400" b="1" i="0">
                <a:solidFill>
                  <a:srgbClr val="1A1A1A"/>
                </a:solidFill>
                <a:latin typeface="Consolas"/>
              </a:rPr>
              <a:t>• ForceField("amber14-all.xml", "implicit/gbn2.xml")</a:t>
            </a:r>
          </a:p>
          <a:p>
            <a:pPr lvl="1">
              <a:spcAft>
                <a:spcPts val="400"/>
              </a:spcAft>
            </a:pPr>
            <a:r>
              <a:rPr sz="1400" b="0" i="0">
                <a:solidFill>
                  <a:srgbClr val="6B6B6B"/>
                </a:solidFill>
                <a:latin typeface="Calibri"/>
              </a:rPr>
              <a:t>– AMBER ff14SB for protein AND DNA; GB-Neck2 implicit solvent (water = continuous dielectric)</a:t>
            </a:r>
          </a:p>
          <a:p>
            <a:pPr>
              <a:spcAft>
                <a:spcPts val="400"/>
              </a:spcAft>
            </a:pPr>
            <a:r>
              <a:rPr sz="1400" b="0" i="0">
                <a:solidFill>
                  <a:srgbClr val="1A1A1A"/>
                </a:solidFill>
                <a:latin typeface="Consolas"/>
              </a:rPr>
              <a:t>• nonbondedMethod = NoCutoff</a:t>
            </a:r>
          </a:p>
          <a:p>
            <a:pPr lvl="1">
              <a:spcAft>
                <a:spcPts val="400"/>
              </a:spcAft>
            </a:pPr>
            <a:r>
              <a:rPr sz="1400" b="0" i="0">
                <a:solidFill>
                  <a:srgbClr val="6B6B6B"/>
                </a:solidFill>
                <a:latin typeface="Calibri"/>
              </a:rPr>
              <a:t>– implicit solvent has no periodic box → all pairwise interactions computed exactly</a:t>
            </a:r>
          </a:p>
          <a:p>
            <a:pPr>
              <a:spcAft>
                <a:spcPts val="400"/>
              </a:spcAft>
            </a:pPr>
            <a:r>
              <a:rPr sz="1600" b="0" i="0">
                <a:solidFill>
                  <a:srgbClr val="1A1A1A"/>
                </a:solidFill>
                <a:latin typeface="Calibri"/>
              </a:rPr>
              <a:t>• Constraints differ by phase:</a:t>
            </a:r>
          </a:p>
          <a:p>
            <a:pPr lvl="1">
              <a:spcAft>
                <a:spcPts val="400"/>
              </a:spcAft>
            </a:pPr>
            <a:r>
              <a:rPr sz="1200" b="0" i="0">
                <a:solidFill>
                  <a:srgbClr val="6B6B6B"/>
                </a:solidFill>
                <a:latin typeface="Consolas"/>
              </a:rPr>
              <a:t>– Phase 0 system: constraints = None   ·   Phase 1/2 system: constraints = HBonds</a:t>
            </a:r>
          </a:p>
          <a:p>
            <a:pPr>
              <a:spcAft>
                <a:spcPts val="400"/>
              </a:spcAft>
            </a:pPr>
            <a:r>
              <a:rPr sz="1600" b="0" i="0">
                <a:solidFill>
                  <a:srgbClr val="1A1A1A"/>
                </a:solidFill>
                <a:latin typeface="Calibri"/>
              </a:rPr>
              <a:t>• Platform: CUDA (mixed precision) if available, else CPU fallback — printed per run</a:t>
            </a:r>
          </a:p>
          <a:p>
            <a:pPr>
              <a:spcAft>
                <a:spcPts val="400"/>
              </a:spcAft>
            </a:pPr>
            <a:r>
              <a:rPr sz="1600" b="1" i="0">
                <a:solidFill>
                  <a:srgbClr val="D1495B"/>
                </a:solidFill>
                <a:latin typeface="Calibri"/>
              </a:rPr>
              <a:t>• ⚠ The load-bearing caveat — GBSA over-compaction</a:t>
            </a:r>
          </a:p>
          <a:p>
            <a:pPr lvl="1">
              <a:spcAft>
                <a:spcPts val="400"/>
              </a:spcAft>
            </a:pPr>
            <a:r>
              <a:rPr sz="1300" b="0" i="0">
                <a:solidFill>
                  <a:srgbClr val="D1495B"/>
                </a:solidFill>
                <a:latin typeface="Calibri"/>
              </a:rPr>
              <a:t>– no explicit counter-ions → over-stabilizes close ion pairs → a charged protein–DNA interface can relax artificially compact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377440"/>
            <a:ext cx="10515600" cy="640080"/>
          </a:xfrm>
          <a:prstGeom prst="rect">
            <a:avLst/>
          </a:prstGeom>
          <a:noFill/>
        </p:spPr>
        <p:txBody>
          <a:bodyPr wrap="square">
            <a:spAutoFit/>
          </a:bodyPr>
          <a:lstStyle/>
          <a:p>
            <a:r>
              <a:rPr sz="2000" b="1" i="0">
                <a:solidFill>
                  <a:srgbClr val="CFE4F0"/>
                </a:solidFill>
                <a:latin typeface="Calibri"/>
              </a:rPr>
              <a:t>9.3</a:t>
            </a:r>
          </a:p>
        </p:txBody>
      </p:sp>
      <p:sp>
        <p:nvSpPr>
          <p:cNvPr id="4" name="TextBox 3"/>
          <p:cNvSpPr txBox="1"/>
          <p:nvPr/>
        </p:nvSpPr>
        <p:spPr>
          <a:xfrm>
            <a:off x="822960" y="2926080"/>
            <a:ext cx="10515600" cy="1280160"/>
          </a:xfrm>
          <a:prstGeom prst="rect">
            <a:avLst/>
          </a:prstGeom>
          <a:noFill/>
        </p:spPr>
        <p:txBody>
          <a:bodyPr wrap="square">
            <a:spAutoFit/>
          </a:bodyPr>
          <a:lstStyle/>
          <a:p>
            <a:r>
              <a:rPr sz="3400" b="1" i="0">
                <a:solidFill>
                  <a:srgbClr val="FFFFFF"/>
                </a:solidFill>
                <a:latin typeface="Calibri"/>
              </a:rPr>
              <a:t>Restraints: hold what you trust</a:t>
            </a:r>
          </a:p>
        </p:txBody>
      </p:sp>
      <p:sp>
        <p:nvSpPr>
          <p:cNvPr id="5" name="TextBox 4"/>
          <p:cNvSpPr txBox="1"/>
          <p:nvPr/>
        </p:nvSpPr>
        <p:spPr>
          <a:xfrm>
            <a:off x="822960" y="4297680"/>
            <a:ext cx="10515600" cy="1280160"/>
          </a:xfrm>
          <a:prstGeom prst="rect">
            <a:avLst/>
          </a:prstGeom>
          <a:noFill/>
        </p:spPr>
        <p:txBody>
          <a:bodyPr wrap="square">
            <a:spAutoFit/>
          </a:bodyPr>
          <a:lstStyle/>
          <a:p>
            <a:r>
              <a:rPr sz="1700" b="0" i="0">
                <a:solidFill>
                  <a:srgbClr val="E4EFF5"/>
                </a:solidFill>
                <a:latin typeface="Calibri"/>
              </a:rPr>
              <a:t>Backbone pinned, side chains free — how you relax locally without losing global placement.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822960"/>
          </a:xfrm>
          <a:prstGeom prst="rect">
            <a:avLst/>
          </a:prstGeom>
          <a:noFill/>
        </p:spPr>
        <p:txBody>
          <a:bodyPr wrap="square">
            <a:spAutoFit/>
          </a:bodyPr>
          <a:lstStyle/>
          <a:p>
            <a:r>
              <a:rPr sz="2600" b="1" i="0">
                <a:solidFill>
                  <a:srgbClr val="1A1A1A"/>
                </a:solidFill>
                <a:latin typeface="Calibri"/>
              </a:rPr>
              <a:t>9.3 · Restraints — the leash on minimization</a:t>
            </a:r>
          </a:p>
        </p:txBody>
      </p:sp>
      <p:sp>
        <p:nvSpPr>
          <p:cNvPr id="4" name="TextBox 3"/>
          <p:cNvSpPr txBox="1"/>
          <p:nvPr/>
        </p:nvSpPr>
        <p:spPr>
          <a:xfrm>
            <a:off x="640080" y="1371600"/>
            <a:ext cx="10972800" cy="5120640"/>
          </a:xfrm>
          <a:prstGeom prst="rect">
            <a:avLst/>
          </a:prstGeom>
          <a:noFill/>
        </p:spPr>
        <p:txBody>
          <a:bodyPr wrap="square">
            <a:spAutoFit/>
          </a:bodyPr>
          <a:lstStyle/>
          <a:p>
            <a:pPr>
              <a:spcAft>
                <a:spcPts val="400"/>
              </a:spcAft>
            </a:pPr>
            <a:r>
              <a:rPr sz="1600" b="0" i="0">
                <a:solidFill>
                  <a:srgbClr val="1A1A1A"/>
                </a:solidFill>
                <a:latin typeface="Calibri"/>
              </a:rPr>
              <a:t>• Without restraints, minimizing under GBSA can slide the whole protein OFF the DNA</a:t>
            </a:r>
          </a:p>
          <a:p>
            <a:pPr lvl="1">
              <a:spcAft>
                <a:spcPts val="400"/>
              </a:spcAft>
            </a:pPr>
            <a:r>
              <a:rPr sz="1400" b="0" i="0">
                <a:solidFill>
                  <a:srgbClr val="6B6B6B"/>
                </a:solidFill>
                <a:latin typeface="Calibri"/>
              </a:rPr>
              <a:t>– the energy minimum is not the bound pose — the docked backbone IS the frame's identity</a:t>
            </a:r>
          </a:p>
          <a:p>
            <a:pPr>
              <a:spcAft>
                <a:spcPts val="400"/>
              </a:spcAft>
            </a:pPr>
            <a:r>
              <a:rPr sz="1600" b="1" i="0">
                <a:solidFill>
                  <a:srgbClr val="1A1A1A"/>
                </a:solidFill>
                <a:latin typeface="Calibri"/>
              </a:rPr>
              <a:t>• Harmonic positional restraint (a CustomExternalForce):</a:t>
            </a:r>
          </a:p>
          <a:p>
            <a:pPr lvl="1">
              <a:spcAft>
                <a:spcPts val="400"/>
              </a:spcAft>
            </a:pPr>
            <a:r>
              <a:rPr sz="1400" b="0" i="0">
                <a:solidFill>
                  <a:srgbClr val="2E7FA8"/>
                </a:solidFill>
                <a:latin typeface="Consolas"/>
              </a:rPr>
              <a:t>– 0.5 * k * ((x−x0)² + (y−y0)² + (z−z0)²)</a:t>
            </a:r>
          </a:p>
          <a:p>
            <a:pPr>
              <a:spcAft>
                <a:spcPts val="400"/>
              </a:spcAft>
            </a:pPr>
            <a:r>
              <a:rPr sz="1600" b="1" i="0">
                <a:solidFill>
                  <a:srgbClr val="1A1A1A"/>
                </a:solidFill>
                <a:latin typeface="Calibri"/>
              </a:rPr>
              <a:t>• What is pinned:</a:t>
            </a:r>
          </a:p>
          <a:p>
            <a:pPr lvl="1">
              <a:spcAft>
                <a:spcPts val="400"/>
              </a:spcAft>
            </a:pPr>
            <a:r>
              <a:rPr sz="1400" b="0" i="0">
                <a:solidFill>
                  <a:srgbClr val="1A1A1A"/>
                </a:solidFill>
                <a:latin typeface="Calibri"/>
              </a:rPr>
              <a:t>– protein backbone (N, CA, C) + by default DNA backbone (P, C1′), at k = 10 kcal/mol/Å²</a:t>
            </a:r>
          </a:p>
          <a:p>
            <a:pPr lvl="1">
              <a:spcAft>
                <a:spcPts val="400"/>
              </a:spcAft>
            </a:pPr>
            <a:r>
              <a:rPr sz="1200" b="0" i="0">
                <a:solidFill>
                  <a:srgbClr val="6B6B6B"/>
                </a:solidFill>
                <a:latin typeface="Calibri"/>
              </a:rPr>
              <a:t>– reference = post-Phase-0 coords, which (heavy atoms frozen) equal the docked coords</a:t>
            </a:r>
          </a:p>
          <a:p>
            <a:pPr>
              <a:spcAft>
                <a:spcPts val="400"/>
              </a:spcAft>
            </a:pPr>
            <a:r>
              <a:rPr sz="1600" b="0" i="0">
                <a:solidFill>
                  <a:srgbClr val="1A1A1A"/>
                </a:solidFill>
                <a:latin typeface="Calibri"/>
              </a:rPr>
              <a:t>• What is free: side chains + everything else — they carry recognition chemistry and must repack</a:t>
            </a:r>
          </a:p>
          <a:p>
            <a:pPr>
              <a:spcAft>
                <a:spcPts val="400"/>
              </a:spcAft>
            </a:pPr>
            <a:r>
              <a:rPr sz="1600" b="1" i="0">
                <a:solidFill>
                  <a:srgbClr val="2E7FA8"/>
                </a:solidFill>
                <a:latin typeface="Calibri"/>
              </a:rPr>
              <a:t>• Net: relax LOCALLY (clashes, repacking) without losing GLOBAL placement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822960"/>
          </a:xfrm>
          <a:prstGeom prst="rect">
            <a:avLst/>
          </a:prstGeom>
          <a:noFill/>
        </p:spPr>
        <p:txBody>
          <a:bodyPr wrap="square">
            <a:spAutoFit/>
          </a:bodyPr>
          <a:lstStyle/>
          <a:p>
            <a:r>
              <a:rPr sz="2400" b="1" i="0">
                <a:solidFill>
                  <a:srgbClr val="1A1A1A"/>
                </a:solidFill>
                <a:latin typeface="Calibri"/>
              </a:rPr>
              <a:t>9.3 · Evidence the restraints hold — R1</a:t>
            </a:r>
          </a:p>
        </p:txBody>
      </p:sp>
      <p:pic>
        <p:nvPicPr>
          <p:cNvPr id="4" name="Picture 3" descr="v3bbe90ee_R1_ca_rmsd_stages.png"/>
          <p:cNvPicPr>
            <a:picLocks noChangeAspect="1"/>
          </p:cNvPicPr>
          <p:nvPr/>
        </p:nvPicPr>
        <p:blipFill>
          <a:blip r:embed="rId2"/>
          <a:stretch>
            <a:fillRect/>
          </a:stretch>
        </p:blipFill>
        <p:spPr>
          <a:xfrm>
            <a:off x="700887" y="1280160"/>
            <a:ext cx="10789920" cy="4203585"/>
          </a:xfrm>
          <a:prstGeom prst="rect">
            <a:avLst/>
          </a:prstGeom>
        </p:spPr>
      </p:pic>
      <p:sp>
        <p:nvSpPr>
          <p:cNvPr id="5" name="TextBox 4"/>
          <p:cNvSpPr txBox="1"/>
          <p:nvPr/>
        </p:nvSpPr>
        <p:spPr>
          <a:xfrm>
            <a:off x="700887" y="5529465"/>
            <a:ext cx="10789920" cy="822960"/>
          </a:xfrm>
          <a:prstGeom prst="rect">
            <a:avLst/>
          </a:prstGeom>
          <a:noFill/>
        </p:spPr>
        <p:txBody>
          <a:bodyPr wrap="square">
            <a:spAutoFit/>
          </a:bodyPr>
          <a:lstStyle/>
          <a:p>
            <a:r>
              <a:rPr sz="1100" b="0" i="1">
                <a:solidFill>
                  <a:srgbClr val="6B6B6B"/>
                </a:solidFill>
                <a:latin typeface="Calibri"/>
              </a:rPr>
              <a:t>Whole-protein backbone RMSD to crystal, docked (Stage 2, grey ●) vs minimized (Stage 3, teal ■), per pilot, ordered by fnat pass-rate. The two arms sit nearly on top of each other at every pilot — minimization barely moves the global backbone. (Backbone N,Cα,C,O used as the Cα proxy; the tandem homeodomain² at right sits at ~16 Å, the excluded dimer.)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822960"/>
          </a:xfrm>
          <a:prstGeom prst="rect">
            <a:avLst/>
          </a:prstGeom>
          <a:noFill/>
        </p:spPr>
        <p:txBody>
          <a:bodyPr wrap="square">
            <a:spAutoFit/>
          </a:bodyPr>
          <a:lstStyle/>
          <a:p>
            <a:r>
              <a:rPr sz="2400" b="1" i="0">
                <a:solidFill>
                  <a:srgbClr val="1A1A1A"/>
                </a:solidFill>
                <a:latin typeface="Calibri"/>
              </a:rPr>
              <a:t>9.3 · Which direction does it nudge? — R3</a:t>
            </a:r>
          </a:p>
        </p:txBody>
      </p:sp>
      <p:pic>
        <p:nvPicPr>
          <p:cNvPr id="4" name="Picture 3" descr="v54e30422_R3_minimization_delta.png"/>
          <p:cNvPicPr>
            <a:picLocks noChangeAspect="1"/>
          </p:cNvPicPr>
          <p:nvPr/>
        </p:nvPicPr>
        <p:blipFill>
          <a:blip r:embed="rId2"/>
          <a:stretch>
            <a:fillRect/>
          </a:stretch>
        </p:blipFill>
        <p:spPr>
          <a:xfrm>
            <a:off x="700887" y="1280160"/>
            <a:ext cx="10789920" cy="4202389"/>
          </a:xfrm>
          <a:prstGeom prst="rect">
            <a:avLst/>
          </a:prstGeom>
        </p:spPr>
      </p:pic>
      <p:sp>
        <p:nvSpPr>
          <p:cNvPr id="5" name="TextBox 4"/>
          <p:cNvSpPr txBox="1"/>
          <p:nvPr/>
        </p:nvSpPr>
        <p:spPr>
          <a:xfrm>
            <a:off x="700887" y="5528269"/>
            <a:ext cx="10789920" cy="822960"/>
          </a:xfrm>
          <a:prstGeom prst="rect">
            <a:avLst/>
          </a:prstGeom>
          <a:noFill/>
        </p:spPr>
        <p:txBody>
          <a:bodyPr wrap="square">
            <a:spAutoFit/>
          </a:bodyPr>
          <a:lstStyle/>
          <a:p>
            <a:r>
              <a:rPr sz="1100" b="0" i="1">
                <a:solidFill>
                  <a:srgbClr val="6B6B6B"/>
                </a:solidFill>
                <a:latin typeface="Calibri"/>
              </a:rPr>
              <a:t>Per-state signed change in backbone RMSD to crystal, Stage 3 − Stage 2. Negative (teal) = minimization nudged the frame TOWARD the crystal; positive (red) = away. Most pilots have a median ≤ 0. The two red boxes — HMG-box (LEF1) and the tandem homeodomain² — are the floppy folds where minimization can walk frames slightly off the bound pose.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377440"/>
            <a:ext cx="10515600" cy="640080"/>
          </a:xfrm>
          <a:prstGeom prst="rect">
            <a:avLst/>
          </a:prstGeom>
          <a:noFill/>
        </p:spPr>
        <p:txBody>
          <a:bodyPr wrap="square">
            <a:spAutoFit/>
          </a:bodyPr>
          <a:lstStyle/>
          <a:p>
            <a:r>
              <a:rPr sz="2000" b="1" i="0">
                <a:solidFill>
                  <a:srgbClr val="CFE4F0"/>
                </a:solidFill>
                <a:latin typeface="Calibri"/>
              </a:rPr>
              <a:t>9.4</a:t>
            </a:r>
          </a:p>
        </p:txBody>
      </p:sp>
      <p:sp>
        <p:nvSpPr>
          <p:cNvPr id="4" name="TextBox 3"/>
          <p:cNvSpPr txBox="1"/>
          <p:nvPr/>
        </p:nvSpPr>
        <p:spPr>
          <a:xfrm>
            <a:off x="822960" y="2926080"/>
            <a:ext cx="10515600" cy="1280160"/>
          </a:xfrm>
          <a:prstGeom prst="rect">
            <a:avLst/>
          </a:prstGeom>
          <a:noFill/>
        </p:spPr>
        <p:txBody>
          <a:bodyPr wrap="square">
            <a:spAutoFit/>
          </a:bodyPr>
          <a:lstStyle/>
          <a:p>
            <a:r>
              <a:rPr sz="3400" b="1" i="0">
                <a:solidFill>
                  <a:srgbClr val="FFFFFF"/>
                </a:solidFill>
                <a:latin typeface="Calibri"/>
              </a:rPr>
              <a:t>The metal-coordination cage</a:t>
            </a:r>
          </a:p>
        </p:txBody>
      </p:sp>
      <p:sp>
        <p:nvSpPr>
          <p:cNvPr id="5" name="TextBox 4"/>
          <p:cNvSpPr txBox="1"/>
          <p:nvPr/>
        </p:nvSpPr>
        <p:spPr>
          <a:xfrm>
            <a:off x="822960" y="4297680"/>
            <a:ext cx="10515600" cy="1280160"/>
          </a:xfrm>
          <a:prstGeom prst="rect">
            <a:avLst/>
          </a:prstGeom>
          <a:noFill/>
        </p:spPr>
        <p:txBody>
          <a:bodyPr wrap="square">
            <a:spAutoFit/>
          </a:bodyPr>
          <a:lstStyle/>
          <a:p>
            <a:r>
              <a:rPr sz="1700" b="0" i="0">
                <a:solidFill>
                  <a:srgbClr val="E4EFF5"/>
                </a:solidFill>
                <a:latin typeface="Calibri"/>
              </a:rPr>
              <a:t>Many DBDs need a structural Zn²⁺ the force field can't describe. The trick: keep no metal in the system.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822960"/>
          </a:xfrm>
          <a:prstGeom prst="rect">
            <a:avLst/>
          </a:prstGeom>
          <a:noFill/>
        </p:spPr>
        <p:txBody>
          <a:bodyPr wrap="square">
            <a:spAutoFit/>
          </a:bodyPr>
          <a:lstStyle/>
          <a:p>
            <a:r>
              <a:rPr sz="2600" b="1" i="0">
                <a:solidFill>
                  <a:srgbClr val="1A1A1A"/>
                </a:solidFill>
                <a:latin typeface="Calibri"/>
              </a:rPr>
              <a:t>9.4 · The problem, and the trick</a:t>
            </a:r>
          </a:p>
        </p:txBody>
      </p:sp>
      <p:sp>
        <p:nvSpPr>
          <p:cNvPr id="4" name="TextBox 3"/>
          <p:cNvSpPr txBox="1"/>
          <p:nvPr/>
        </p:nvSpPr>
        <p:spPr>
          <a:xfrm>
            <a:off x="640080" y="1371600"/>
            <a:ext cx="10972800" cy="5120640"/>
          </a:xfrm>
          <a:prstGeom prst="rect">
            <a:avLst/>
          </a:prstGeom>
          <a:noFill/>
        </p:spPr>
        <p:txBody>
          <a:bodyPr wrap="square">
            <a:spAutoFit/>
          </a:bodyPr>
          <a:lstStyle/>
          <a:p>
            <a:pPr>
              <a:spcAft>
                <a:spcPts val="400"/>
              </a:spcAft>
            </a:pPr>
            <a:r>
              <a:rPr sz="1600" b="0" i="0">
                <a:solidFill>
                  <a:srgbClr val="1A1A1A"/>
                </a:solidFill>
                <a:latin typeface="Calibri"/>
              </a:rPr>
              <a:t>• Many DBDs depend on a STRUCTURAL Zn²⁺/Mg²⁺ (C2H2 zinc fingers, GATA, homeodomain-Zn)</a:t>
            </a:r>
          </a:p>
          <a:p>
            <a:pPr lvl="1">
              <a:spcAft>
                <a:spcPts val="400"/>
              </a:spcAft>
            </a:pPr>
            <a:r>
              <a:rPr sz="1300" b="0" i="0">
                <a:solidFill>
                  <a:srgbClr val="6B6B6B"/>
                </a:solidFill>
                <a:latin typeface="Calibri"/>
              </a:rPr>
              <a:t>– e.g. EGR1 / 1aay has three ZN in the crystal (chains D–F)</a:t>
            </a:r>
          </a:p>
          <a:p>
            <a:pPr>
              <a:spcAft>
                <a:spcPts val="400"/>
              </a:spcAft>
            </a:pPr>
            <a:r>
              <a:rPr sz="1600" b="1" i="0">
                <a:solidFill>
                  <a:srgbClr val="D1495B"/>
                </a:solidFill>
                <a:latin typeface="Calibri"/>
              </a:rPr>
              <a:t>• Two problems collide:</a:t>
            </a:r>
          </a:p>
          <a:p>
            <a:pPr lvl="1">
              <a:spcAft>
                <a:spcPts val="400"/>
              </a:spcAft>
            </a:pPr>
            <a:r>
              <a:rPr sz="1300" b="0" i="0">
                <a:solidFill>
                  <a:srgbClr val="D1495B"/>
                </a:solidFill>
                <a:latin typeface="Calibri"/>
              </a:rPr>
              <a:t>– removeHeterogens strips ALL non-standard residues — silently including the metal</a:t>
            </a:r>
          </a:p>
          <a:p>
            <a:pPr lvl="1">
              <a:spcAft>
                <a:spcPts val="400"/>
              </a:spcAft>
            </a:pPr>
            <a:r>
              <a:rPr sz="1300" b="0" i="0">
                <a:solidFill>
                  <a:srgbClr val="D1495B"/>
                </a:solidFill>
                <a:latin typeface="Calibri"/>
              </a:rPr>
              <a:t>– ff14SB can't parameterize a bare metal ion anyway</a:t>
            </a:r>
          </a:p>
          <a:p>
            <a:pPr lvl="1">
              <a:spcAft>
                <a:spcPts val="400"/>
              </a:spcAft>
            </a:pPr>
            <a:r>
              <a:rPr sz="1300" b="0" i="0">
                <a:solidFill>
                  <a:srgbClr val="D1495B"/>
                </a:solidFill>
                <a:latin typeface="Calibri"/>
              </a:rPr>
              <a:t>– → do nothing and the coordination shell collapses into an unphysical apo-Zn fold</a:t>
            </a:r>
          </a:p>
          <a:p>
            <a:pPr>
              <a:spcAft>
                <a:spcPts val="400"/>
              </a:spcAft>
            </a:pPr>
            <a:r>
              <a:rPr sz="1600" b="1" i="0">
                <a:solidFill>
                  <a:srgbClr val="2E7FA8"/>
                </a:solidFill>
                <a:latin typeface="Calibri"/>
              </a:rPr>
              <a:t>• The trick — keep NO metal in the simulated system:</a:t>
            </a:r>
          </a:p>
          <a:p>
            <a:pPr lvl="1">
              <a:spcAft>
                <a:spcPts val="400"/>
              </a:spcAft>
            </a:pPr>
            <a:r>
              <a:rPr sz="1300" b="0" i="0">
                <a:solidFill>
                  <a:srgbClr val="1A1A1A"/>
                </a:solidFill>
                <a:latin typeface="Calibri"/>
              </a:rPr>
              <a:t>– detect metals BEFORE stripping; record which side-chain atoms coordinate each</a:t>
            </a:r>
          </a:p>
          <a:p>
            <a:pPr lvl="1">
              <a:spcAft>
                <a:spcPts val="400"/>
              </a:spcAft>
            </a:pPr>
            <a:r>
              <a:rPr sz="1300" b="1" i="0">
                <a:solidFill>
                  <a:srgbClr val="1A1A1A"/>
                </a:solidFill>
                <a:latin typeface="Calibri"/>
              </a:rPr>
              <a:t>– then restrain the GEOMETRY the metal imposes — not the metal itself</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822960"/>
          </a:xfrm>
          <a:prstGeom prst="rect">
            <a:avLst/>
          </a:prstGeom>
          <a:noFill/>
        </p:spPr>
        <p:txBody>
          <a:bodyPr wrap="square">
            <a:spAutoFit/>
          </a:bodyPr>
          <a:lstStyle/>
          <a:p>
            <a:r>
              <a:rPr sz="2600" b="1" i="0">
                <a:solidFill>
                  <a:srgbClr val="1A1A1A"/>
                </a:solidFill>
                <a:latin typeface="Calibri"/>
              </a:rPr>
              <a:t>9.4 · The cage recipe (verbatim from the engine)</a:t>
            </a:r>
          </a:p>
        </p:txBody>
      </p:sp>
      <p:sp>
        <p:nvSpPr>
          <p:cNvPr id="4" name="TextBox 3"/>
          <p:cNvSpPr txBox="1"/>
          <p:nvPr/>
        </p:nvSpPr>
        <p:spPr>
          <a:xfrm>
            <a:off x="640080" y="1371600"/>
            <a:ext cx="10972800" cy="5120640"/>
          </a:xfrm>
          <a:prstGeom prst="rect">
            <a:avLst/>
          </a:prstGeom>
          <a:noFill/>
        </p:spPr>
        <p:txBody>
          <a:bodyPr wrap="square">
            <a:spAutoFit/>
          </a:bodyPr>
          <a:lstStyle/>
          <a:p>
            <a:pPr>
              <a:spcAft>
                <a:spcPts val="400"/>
              </a:spcAft>
            </a:pPr>
            <a:r>
              <a:rPr sz="1500" b="0" i="0">
                <a:solidFill>
                  <a:srgbClr val="1A1A1A"/>
                </a:solidFill>
                <a:latin typeface="Calibri"/>
              </a:rPr>
              <a:t>• 1. Detect — STRUCTURAL_METALS = {ZN, MG, MN, FE, CA, CO, NI, CU}, before removeHeterogens</a:t>
            </a:r>
          </a:p>
          <a:p>
            <a:pPr>
              <a:spcAft>
                <a:spcPts val="400"/>
              </a:spcAft>
            </a:pPr>
            <a:r>
              <a:rPr sz="1500" b="0" i="0">
                <a:solidFill>
                  <a:srgbClr val="1A1A1A"/>
                </a:solidFill>
                <a:latin typeface="Calibri"/>
              </a:rPr>
              <a:t>• 2. Record the shell — ligand atoms within --metal-coord-cutoff = 3.0 Å of the metal</a:t>
            </a:r>
          </a:p>
          <a:p>
            <a:pPr lvl="1">
              <a:spcAft>
                <a:spcPts val="400"/>
              </a:spcAft>
            </a:pPr>
            <a:r>
              <a:rPr sz="1100" b="0" i="0">
                <a:solidFill>
                  <a:srgbClr val="6B6B6B"/>
                </a:solidFill>
                <a:latin typeface="Consolas"/>
              </a:rPr>
              <a:t>– ligand atoms: SG, ND1, NE2, OD1, OD2, OE1, OE2, OG, OG1, OH (Cys/His/Asp/Glu/Ser/Thr/Tyr)</a:t>
            </a:r>
          </a:p>
          <a:p>
            <a:pPr lvl="1">
              <a:spcAft>
                <a:spcPts val="400"/>
              </a:spcAft>
            </a:pPr>
            <a:r>
              <a:rPr sz="1200" b="0" i="0">
                <a:solidFill>
                  <a:srgbClr val="6B6B6B"/>
                </a:solidFill>
                <a:latin typeface="Calibri"/>
              </a:rPr>
              <a:t>– keep a cluster only if ≥ 2 ligands; recorded by (chain, residue, atom) to survive re-indexing</a:t>
            </a:r>
          </a:p>
          <a:p>
            <a:pPr>
              <a:spcAft>
                <a:spcPts val="400"/>
              </a:spcAft>
            </a:pPr>
            <a:r>
              <a:rPr sz="1500" b="0" i="0">
                <a:solidFill>
                  <a:srgbClr val="1A1A1A"/>
                </a:solidFill>
                <a:latin typeface="Calibri"/>
              </a:rPr>
              <a:t>• 3. Cage it — one HarmonicBondForce; a bond between EVERY pair of coordinating atoms</a:t>
            </a:r>
          </a:p>
          <a:p>
            <a:pPr lvl="1">
              <a:spcAft>
                <a:spcPts val="400"/>
              </a:spcAft>
            </a:pPr>
            <a:r>
              <a:rPr sz="1300" b="1" i="0">
                <a:solidFill>
                  <a:srgbClr val="2E7FA8"/>
                </a:solidFill>
                <a:latin typeface="Consolas"/>
              </a:rPr>
              <a:t>– pinned at that pair's original separation, at k = 20 kcal/mol/Å²  (--metal-cage-k)</a:t>
            </a:r>
          </a:p>
          <a:p>
            <a:pPr>
              <a:spcAft>
                <a:spcPts val="400"/>
              </a:spcAft>
            </a:pPr>
            <a:r>
              <a:rPr sz="1600" b="0" i="0">
                <a:solidFill>
                  <a:srgbClr val="1A1A1A"/>
                </a:solidFill>
                <a:latin typeface="Calibri"/>
              </a:rPr>
              <a:t>• Diagnostics printed per run: # metals, # clusters, ligand lists, and CAGE DRIFT (mean/max Å)</a:t>
            </a:r>
          </a:p>
          <a:p>
            <a:pPr>
              <a:spcAft>
                <a:spcPts val="400"/>
              </a:spcAft>
            </a:pPr>
            <a:r>
              <a:rPr sz="1600" b="0" i="0">
                <a:solidFill>
                  <a:srgbClr val="6B6B6B"/>
                </a:solidFill>
                <a:latin typeface="Calibri"/>
              </a:rPr>
              <a:t>• Off switch: --ignore-metals (config STAGE3_IGNORE_METALS=1) → the 'legacy' / cage-OFF arm</a:t>
            </a:r>
          </a:p>
          <a:p>
            <a:pPr>
              <a:spcAft>
                <a:spcPts val="400"/>
              </a:spcAft>
            </a:pPr>
            <a:r>
              <a:rPr sz="1600" b="1" i="1">
                <a:solidFill>
                  <a:srgbClr val="1A1A1A"/>
                </a:solidFill>
                <a:latin typeface="Calibri"/>
              </a:rPr>
              <a:t>• Reusable pattern: for any cofactor a force field can't describe, restrain its imposed geometry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822960"/>
          </a:xfrm>
          <a:prstGeom prst="rect">
            <a:avLst/>
          </a:prstGeom>
          <a:noFill/>
        </p:spPr>
        <p:txBody>
          <a:bodyPr wrap="square">
            <a:spAutoFit/>
          </a:bodyPr>
          <a:lstStyle/>
          <a:p>
            <a:r>
              <a:rPr sz="2400" b="1" i="0">
                <a:solidFill>
                  <a:srgbClr val="1A1A1A"/>
                </a:solidFill>
                <a:latin typeface="Calibri"/>
              </a:rPr>
              <a:t>9.4 · Does the cage change the answer? — the A/B</a:t>
            </a:r>
          </a:p>
        </p:txBody>
      </p:sp>
      <p:pic>
        <p:nvPicPr>
          <p:cNvPr id="4" name="Picture 3" descr="v20a78af7_fig_cage_ab.png"/>
          <p:cNvPicPr>
            <a:picLocks noChangeAspect="1"/>
          </p:cNvPicPr>
          <p:nvPr/>
        </p:nvPicPr>
        <p:blipFill>
          <a:blip r:embed="rId2"/>
          <a:stretch>
            <a:fillRect/>
          </a:stretch>
        </p:blipFill>
        <p:spPr>
          <a:xfrm>
            <a:off x="757480" y="1280160"/>
            <a:ext cx="10676735" cy="4754880"/>
          </a:xfrm>
          <a:prstGeom prst="rect">
            <a:avLst/>
          </a:prstGeom>
        </p:spPr>
      </p:pic>
      <p:sp>
        <p:nvSpPr>
          <p:cNvPr id="5" name="TextBox 4"/>
          <p:cNvSpPr txBox="1"/>
          <p:nvPr/>
        </p:nvSpPr>
        <p:spPr>
          <a:xfrm>
            <a:off x="757480" y="6080760"/>
            <a:ext cx="10676735" cy="822960"/>
          </a:xfrm>
          <a:prstGeom prst="rect">
            <a:avLst/>
          </a:prstGeom>
          <a:noFill/>
        </p:spPr>
        <p:txBody>
          <a:bodyPr wrap="square">
            <a:spAutoFit/>
          </a:bodyPr>
          <a:lstStyle/>
          <a:p>
            <a:r>
              <a:rPr sz="1100" b="0" i="1">
                <a:solidFill>
                  <a:srgbClr val="6B6B6B"/>
                </a:solidFill>
                <a:latin typeface="Calibri"/>
              </a:rPr>
              <a:t>Mean Pearson r on the 130-entry benchmark: baseline (crystal only) vs augmented cage-ON vs augmented cage-OFF, for three zinc/metal-relevant pilots. Points = 5 training seeds, bar = mean, dotted = baseline mean. The cage matters most for TBP, where minimization is otherwise least constrained: cage-ON augmented 0.627 vs cage-OFF 0.585. EGR1 and DUX4 are comparable ON vs OFF.</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377440"/>
            <a:ext cx="10515600" cy="640080"/>
          </a:xfrm>
          <a:prstGeom prst="rect">
            <a:avLst/>
          </a:prstGeom>
          <a:noFill/>
        </p:spPr>
        <p:txBody>
          <a:bodyPr wrap="square">
            <a:spAutoFit/>
          </a:bodyPr>
          <a:lstStyle/>
          <a:p>
            <a:r>
              <a:rPr sz="2000" b="1" i="0">
                <a:solidFill>
                  <a:srgbClr val="CFE4F0"/>
                </a:solidFill>
                <a:latin typeface="Calibri"/>
              </a:rPr>
              <a:t>9.5</a:t>
            </a:r>
          </a:p>
        </p:txBody>
      </p:sp>
      <p:sp>
        <p:nvSpPr>
          <p:cNvPr id="4" name="TextBox 3"/>
          <p:cNvSpPr txBox="1"/>
          <p:nvPr/>
        </p:nvSpPr>
        <p:spPr>
          <a:xfrm>
            <a:off x="822960" y="2926080"/>
            <a:ext cx="10515600" cy="1280160"/>
          </a:xfrm>
          <a:prstGeom prst="rect">
            <a:avLst/>
          </a:prstGeom>
          <a:noFill/>
        </p:spPr>
        <p:txBody>
          <a:bodyPr wrap="square">
            <a:spAutoFit/>
          </a:bodyPr>
          <a:lstStyle/>
          <a:p>
            <a:r>
              <a:rPr sz="3400" b="1" i="0">
                <a:solidFill>
                  <a:srgbClr val="FFFFFF"/>
                </a:solidFill>
                <a:latin typeface="Calibri"/>
              </a:rPr>
              <a:t>The three-phase ramp</a:t>
            </a:r>
          </a:p>
        </p:txBody>
      </p:sp>
      <p:sp>
        <p:nvSpPr>
          <p:cNvPr id="5" name="TextBox 4"/>
          <p:cNvSpPr txBox="1"/>
          <p:nvPr/>
        </p:nvSpPr>
        <p:spPr>
          <a:xfrm>
            <a:off x="822960" y="4297680"/>
            <a:ext cx="10515600" cy="1280160"/>
          </a:xfrm>
          <a:prstGeom prst="rect">
            <a:avLst/>
          </a:prstGeom>
          <a:noFill/>
        </p:spPr>
        <p:txBody>
          <a:bodyPr wrap="square">
            <a:spAutoFit/>
          </a:bodyPr>
          <a:lstStyle/>
          <a:p>
            <a:r>
              <a:rPr sz="1700" b="0" i="0">
                <a:solidFill>
                  <a:srgbClr val="E4EFF5"/>
                </a:solidFill>
                <a:latin typeface="Calibri"/>
              </a:rPr>
              <a:t>Why not just minimize once? Because a 73-clash start diverges under one hard minimization.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822960"/>
          </a:xfrm>
          <a:prstGeom prst="rect">
            <a:avLst/>
          </a:prstGeom>
          <a:noFill/>
        </p:spPr>
        <p:txBody>
          <a:bodyPr wrap="square">
            <a:spAutoFit/>
          </a:bodyPr>
          <a:lstStyle/>
          <a:p>
            <a:r>
              <a:rPr sz="2600" b="1" i="0">
                <a:solidFill>
                  <a:srgbClr val="1A1A1A"/>
                </a:solidFill>
                <a:latin typeface="Calibri"/>
              </a:rPr>
              <a:t>9.5 · Softening-then-growing (verbatim from the engine)</a:t>
            </a:r>
          </a:p>
        </p:txBody>
      </p:sp>
      <p:sp>
        <p:nvSpPr>
          <p:cNvPr id="4" name="TextBox 3"/>
          <p:cNvSpPr txBox="1"/>
          <p:nvPr/>
        </p:nvSpPr>
        <p:spPr>
          <a:xfrm>
            <a:off x="640080" y="1371600"/>
            <a:ext cx="10972800" cy="5120640"/>
          </a:xfrm>
          <a:prstGeom prst="rect">
            <a:avLst/>
          </a:prstGeom>
          <a:noFill/>
        </p:spPr>
        <p:txBody>
          <a:bodyPr wrap="square">
            <a:spAutoFit/>
          </a:bodyPr>
          <a:lstStyle/>
          <a:p>
            <a:pPr>
              <a:spcAft>
                <a:spcPts val="400"/>
              </a:spcAft>
            </a:pPr>
            <a:r>
              <a:rPr sz="1600" b="0" i="0">
                <a:solidFill>
                  <a:srgbClr val="1A1A1A"/>
                </a:solidFill>
                <a:latin typeface="Calibri"/>
              </a:rPr>
              <a:t>• Phase 0 — hydrogens only: freeze heavy atoms (mass=0), minimize H (≤ 2000 iters)</a:t>
            </a:r>
          </a:p>
          <a:p>
            <a:pPr lvl="1">
              <a:spcAft>
                <a:spcPts val="400"/>
              </a:spcAft>
            </a:pPr>
            <a:r>
              <a:rPr sz="1300" b="0" i="0">
                <a:solidFill>
                  <a:srgbClr val="6B6B6B"/>
                </a:solidFill>
                <a:latin typeface="Calibri"/>
              </a:rPr>
              <a:t>– fixes H placement before it can perturb the heavy-atom frame</a:t>
            </a:r>
          </a:p>
          <a:p>
            <a:pPr>
              <a:spcAft>
                <a:spcPts val="400"/>
              </a:spcAft>
            </a:pPr>
            <a:r>
              <a:rPr sz="1600" b="1" i="0">
                <a:solidFill>
                  <a:srgbClr val="1A1A1A"/>
                </a:solidFill>
                <a:latin typeface="Calibri"/>
              </a:rPr>
              <a:t>• Phase 1 — vdW ramp: σ scaled 0.1 → 0.3 → 0.5 → 0.7 → 1.0, 500 iters each</a:t>
            </a:r>
          </a:p>
          <a:p>
            <a:pPr lvl="1">
              <a:spcAft>
                <a:spcPts val="400"/>
              </a:spcAft>
            </a:pPr>
            <a:r>
              <a:rPr sz="1200" b="0" i="0">
                <a:solidFill>
                  <a:srgbClr val="6B6B6B"/>
                </a:solidFill>
                <a:latin typeface="Consolas"/>
              </a:rPr>
              <a:t>– rescales each particle's σ on the NonbondedForce (charge &amp; ε untouched)</a:t>
            </a:r>
          </a:p>
          <a:p>
            <a:pPr lvl="1">
              <a:spcAft>
                <a:spcPts val="400"/>
              </a:spcAft>
            </a:pPr>
            <a:r>
              <a:rPr sz="1200" b="0" i="0">
                <a:solidFill>
                  <a:srgbClr val="6B6B6B"/>
                </a:solidFill>
                <a:latin typeface="Calibri"/>
              </a:rPr>
              <a:t>– backbone + cage restraints active throughout; PE/clashes/min-dist printed per stage</a:t>
            </a:r>
          </a:p>
          <a:p>
            <a:pPr>
              <a:spcAft>
                <a:spcPts val="400"/>
              </a:spcAft>
            </a:pPr>
            <a:r>
              <a:rPr sz="1600" b="0" i="0">
                <a:solidFill>
                  <a:srgbClr val="1A1A1A"/>
                </a:solidFill>
                <a:latin typeface="Calibri"/>
              </a:rPr>
              <a:t>• Phase 2 — final minimization at full vdW: ≤ 10,000 iters, then strip H &amp; write</a:t>
            </a:r>
          </a:p>
          <a:p>
            <a:pPr>
              <a:spcAft>
                <a:spcPts val="400"/>
              </a:spcAft>
            </a:pPr>
            <a:r>
              <a:rPr sz="1600" b="1" i="0">
                <a:solidFill>
                  <a:srgbClr val="D1495B"/>
                </a:solidFill>
                <a:latin typeface="Calibri"/>
              </a:rPr>
              <a:t>• Why gently? Overlapping atoms → enormous vdW repulsion → one hard min DIVERGES</a:t>
            </a:r>
          </a:p>
          <a:p>
            <a:pPr>
              <a:spcAft>
                <a:spcPts val="400"/>
              </a:spcAft>
            </a:pPr>
            <a:r>
              <a:rPr sz="1200" b="0" i="0">
                <a:solidFill>
                  <a:srgbClr val="6B6B6B"/>
                </a:solidFill>
                <a:latin typeface="Consolas"/>
              </a:rPr>
              <a:t>• Failure handling: a failed ramp stage → sys.exit(2); a failed final → sys.exit(3)</a:t>
            </a:r>
          </a:p>
          <a:p>
            <a:pPr lvl="1">
              <a:spcAft>
                <a:spcPts val="400"/>
              </a:spcAft>
            </a:pPr>
            <a:r>
              <a:rPr sz="1200" b="0" i="0">
                <a:solidFill>
                  <a:srgbClr val="6B6B6B"/>
                </a:solidFill>
                <a:latin typeface="Calibri"/>
              </a:rPr>
              <a:t>– a hard-failing state writes NO output PDB → drops from the denominator (feeds the pass-rate spread)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822960"/>
          </a:xfrm>
          <a:prstGeom prst="rect">
            <a:avLst/>
          </a:prstGeom>
          <a:noFill/>
        </p:spPr>
        <p:txBody>
          <a:bodyPr wrap="square">
            <a:spAutoFit/>
          </a:bodyPr>
          <a:lstStyle/>
          <a:p>
            <a:r>
              <a:rPr sz="2400" b="1" i="0">
                <a:solidFill>
                  <a:srgbClr val="1A1A1A"/>
                </a:solidFill>
                <a:latin typeface="Calibri"/>
              </a:rPr>
              <a:t>9.5 · The ramp in action — the same collapse, re-read</a:t>
            </a:r>
          </a:p>
        </p:txBody>
      </p:sp>
      <p:pic>
        <p:nvPicPr>
          <p:cNvPr id="4" name="Picture 3" descr="v33e26aec_fig_ramp_trajectory.png"/>
          <p:cNvPicPr>
            <a:picLocks noChangeAspect="1"/>
          </p:cNvPicPr>
          <p:nvPr/>
        </p:nvPicPr>
        <p:blipFill>
          <a:blip r:embed="rId2"/>
          <a:stretch>
            <a:fillRect/>
          </a:stretch>
        </p:blipFill>
        <p:spPr>
          <a:xfrm>
            <a:off x="457200" y="1371600"/>
            <a:ext cx="7315200" cy="3611711"/>
          </a:xfrm>
          <a:prstGeom prst="rect">
            <a:avLst/>
          </a:prstGeom>
        </p:spPr>
      </p:pic>
      <p:sp>
        <p:nvSpPr>
          <p:cNvPr id="5" name="TextBox 4"/>
          <p:cNvSpPr txBox="1"/>
          <p:nvPr/>
        </p:nvSpPr>
        <p:spPr>
          <a:xfrm>
            <a:off x="457200" y="5029031"/>
            <a:ext cx="7315200" cy="822960"/>
          </a:xfrm>
          <a:prstGeom prst="rect">
            <a:avLst/>
          </a:prstGeom>
          <a:noFill/>
        </p:spPr>
        <p:txBody>
          <a:bodyPr wrap="square">
            <a:spAutoFit/>
          </a:bodyPr>
          <a:lstStyle/>
          <a:p>
            <a:r>
              <a:rPr sz="1100" b="0" i="1">
                <a:solidFill>
                  <a:srgbClr val="6B6B6B"/>
                </a:solidFill>
                <a:latin typeface="Calibri"/>
              </a:rPr>
              <a:t>The vdW σ-ramp view: clashes (red) hold flat while atoms are small (σ ≤ 0.5), then collapse to 0 as σ → 1.0, with the min protein–DNA distance (blue) opening in lockstep. The alternative — one hard minimization at full σ on this 73-clash start — diverges. The gentle descent is the whole point of Phase 1.</a:t>
            </a:r>
          </a:p>
        </p:txBody>
      </p:sp>
      <p:sp>
        <p:nvSpPr>
          <p:cNvPr id="6" name="TextBox 5"/>
          <p:cNvSpPr txBox="1"/>
          <p:nvPr/>
        </p:nvSpPr>
        <p:spPr>
          <a:xfrm>
            <a:off x="7955279" y="1371600"/>
            <a:ext cx="4023360" cy="4937760"/>
          </a:xfrm>
          <a:prstGeom prst="rect">
            <a:avLst/>
          </a:prstGeom>
          <a:noFill/>
        </p:spPr>
        <p:txBody>
          <a:bodyPr wrap="square">
            <a:spAutoFit/>
          </a:bodyPr>
          <a:lstStyle/>
          <a:p>
            <a:pPr>
              <a:spcAft>
                <a:spcPts val="600"/>
              </a:spcAft>
            </a:pPr>
            <a:r>
              <a:rPr sz="1300" b="0" i="0">
                <a:solidFill>
                  <a:srgbClr val="1A1A1A"/>
                </a:solidFill>
                <a:latin typeface="Calibri"/>
              </a:rPr>
              <a:t>• σ ≤ 0.5: atoms too small to 'feel' each other → clashes flat</a:t>
            </a:r>
          </a:p>
          <a:p>
            <a:pPr>
              <a:spcAft>
                <a:spcPts val="600"/>
              </a:spcAft>
            </a:pPr>
            <a:r>
              <a:rPr sz="1300" b="1" i="0">
                <a:solidFill>
                  <a:srgbClr val="2E7FA8"/>
                </a:solidFill>
                <a:latin typeface="Calibri"/>
              </a:rPr>
              <a:t>• σ 0.7 → 1.0: the resolution window</a:t>
            </a:r>
          </a:p>
          <a:p>
            <a:pPr>
              <a:spcAft>
                <a:spcPts val="600"/>
              </a:spcAft>
            </a:pPr>
            <a:r>
              <a:rPr sz="1300" b="0" i="0">
                <a:solidFill>
                  <a:srgbClr val="1A1A1A"/>
                </a:solidFill>
                <a:latin typeface="Calibri"/>
              </a:rPr>
              <a:t>• Backbone + cage restraints on throughout</a:t>
            </a:r>
          </a:p>
          <a:p>
            <a:pPr>
              <a:spcAft>
                <a:spcPts val="600"/>
              </a:spcAft>
            </a:pPr>
            <a:r>
              <a:rPr sz="1300" b="0" i="0">
                <a:solidFill>
                  <a:srgbClr val="D1495B"/>
                </a:solidFill>
                <a:latin typeface="Calibri"/>
              </a:rPr>
              <a:t>• Contrast: 1 hard min → numerical blow-up</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822960"/>
          </a:xfrm>
          <a:prstGeom prst="rect">
            <a:avLst/>
          </a:prstGeom>
          <a:noFill/>
        </p:spPr>
        <p:txBody>
          <a:bodyPr wrap="square">
            <a:spAutoFit/>
          </a:bodyPr>
          <a:lstStyle/>
          <a:p>
            <a:r>
              <a:rPr sz="2600" b="1" i="0">
                <a:solidFill>
                  <a:srgbClr val="1A1A1A"/>
                </a:solidFill>
                <a:latin typeface="Calibri"/>
              </a:rPr>
              <a:t>9.5 · When a state fails — the gentler recovery ramp</a:t>
            </a:r>
          </a:p>
        </p:txBody>
      </p:sp>
      <p:sp>
        <p:nvSpPr>
          <p:cNvPr id="4" name="TextBox 3"/>
          <p:cNvSpPr txBox="1"/>
          <p:nvPr/>
        </p:nvSpPr>
        <p:spPr>
          <a:xfrm>
            <a:off x="640080" y="1371600"/>
            <a:ext cx="10972800" cy="5120640"/>
          </a:xfrm>
          <a:prstGeom prst="rect">
            <a:avLst/>
          </a:prstGeom>
          <a:noFill/>
        </p:spPr>
        <p:txBody>
          <a:bodyPr wrap="square">
            <a:spAutoFit/>
          </a:bodyPr>
          <a:lstStyle/>
          <a:p>
            <a:pPr>
              <a:spcAft>
                <a:spcPts val="400"/>
              </a:spcAft>
            </a:pPr>
            <a:r>
              <a:rPr sz="1600" b="1" i="0">
                <a:solidFill>
                  <a:srgbClr val="1A1A1A"/>
                </a:solidFill>
                <a:latin typeface="Calibri"/>
              </a:rPr>
              <a:t>• Failed states are re-run with a gentler, longer 6-stage ramp:</a:t>
            </a:r>
          </a:p>
          <a:p>
            <a:pPr lvl="1">
              <a:spcAft>
                <a:spcPts val="400"/>
              </a:spcAft>
            </a:pPr>
            <a:r>
              <a:rPr sz="1300" b="0" i="0">
                <a:solidFill>
                  <a:srgbClr val="2E7FA8"/>
                </a:solidFill>
                <a:latin typeface="Consolas"/>
              </a:rPr>
              <a:t>– RECOVERY_RAMP_STAGES = 0.05, 0.1, 0.2, 0.4, 0.7, 1.0   ·   RECOVERY_STEPS_PER_STAGE = 1000</a:t>
            </a:r>
          </a:p>
          <a:p>
            <a:pPr lvl="1">
              <a:spcAft>
                <a:spcPts val="400"/>
              </a:spcAft>
            </a:pPr>
            <a:r>
              <a:rPr sz="1300" b="0" i="0">
                <a:solidFill>
                  <a:srgbClr val="6B6B6B"/>
                </a:solidFill>
                <a:latin typeface="Calibri"/>
              </a:rPr>
              <a:t>– finer low-σ approach (starts at 0.05, adds 0.2 &amp; 0.4 rungs) + double the iters per rung</a:t>
            </a:r>
          </a:p>
          <a:p>
            <a:pPr>
              <a:spcAft>
                <a:spcPts val="400"/>
              </a:spcAft>
            </a:pPr>
            <a:r>
              <a:rPr sz="1600" b="1" i="0">
                <a:solidFill>
                  <a:srgbClr val="1A1A1A"/>
                </a:solidFill>
                <a:latin typeface="Calibri"/>
              </a:rPr>
              <a:t>• Two drivers:</a:t>
            </a:r>
          </a:p>
          <a:p>
            <a:pPr lvl="1">
              <a:spcAft>
                <a:spcPts val="400"/>
              </a:spcAft>
            </a:pPr>
            <a:r>
              <a:rPr sz="1200" b="0" i="0">
                <a:solidFill>
                  <a:srgbClr val="1A1A1A"/>
                </a:solidFill>
                <a:latin typeface="Consolas"/>
              </a:rPr>
              <a:t>– stage3_recover.sh — walks all N_FRAMES states SERIALLY in one job</a:t>
            </a:r>
          </a:p>
          <a:p>
            <a:pPr lvl="1">
              <a:spcAft>
                <a:spcPts val="400"/>
              </a:spcAft>
            </a:pPr>
            <a:r>
              <a:rPr sz="1200" b="0" i="0">
                <a:solidFill>
                  <a:srgbClr val="1A1A1A"/>
                </a:solidFill>
                <a:latin typeface="Consolas"/>
              </a:rPr>
              <a:t>– stage3_recover_array.sh — one SLURM array task per missing state (PARALLEL)</a:t>
            </a:r>
          </a:p>
          <a:p>
            <a:pPr>
              <a:spcAft>
                <a:spcPts val="400"/>
              </a:spcAft>
            </a:pPr>
            <a:r>
              <a:rPr sz="1600" b="0" i="0">
                <a:solidFill>
                  <a:srgbClr val="1A1A1A"/>
                </a:solidFill>
                <a:latin typeface="Calibri"/>
              </a:rPr>
              <a:t>• Why the array version exists:</a:t>
            </a:r>
          </a:p>
          <a:p>
            <a:pPr lvl="1">
              <a:spcAft>
                <a:spcPts val="400"/>
              </a:spcAft>
            </a:pPr>
            <a:r>
              <a:rPr sz="1300" b="0" i="0">
                <a:solidFill>
                  <a:srgbClr val="6B6B6B"/>
                </a:solidFill>
                <a:latin typeface="Calibri"/>
              </a:rPr>
              <a:t>– the serial recover wall-clocked (4 h) on the DUX4 dimer — 7 stragglers × ~30 min each</a:t>
            </a:r>
          </a:p>
          <a:p>
            <a:pPr>
              <a:spcAft>
                <a:spcPts val="400"/>
              </a:spcAft>
            </a:pPr>
            <a:r>
              <a:rPr sz="1600" b="1" i="0">
                <a:solidFill>
                  <a:srgbClr val="2E7FA8"/>
                </a:solidFill>
                <a:latin typeface="Calibri"/>
              </a:rPr>
              <a:t>• Both are idempotent + best-effort: a still-failing state logs loudly and exits 0</a:t>
            </a:r>
          </a:p>
          <a:p>
            <a:pPr lvl="1">
              <a:spcAft>
                <a:spcPts val="400"/>
              </a:spcAft>
            </a:pPr>
            <a:r>
              <a:rPr sz="1200" b="0" i="0">
                <a:solidFill>
                  <a:srgbClr val="6B6B6B"/>
                </a:solidFill>
                <a:latin typeface="Calibri"/>
              </a:rPr>
              <a:t>– → never blocks the downstream afterok gate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377440"/>
            <a:ext cx="10515600" cy="640080"/>
          </a:xfrm>
          <a:prstGeom prst="rect">
            <a:avLst/>
          </a:prstGeom>
          <a:noFill/>
        </p:spPr>
        <p:txBody>
          <a:bodyPr wrap="square">
            <a:spAutoFit/>
          </a:bodyPr>
          <a:lstStyle/>
          <a:p>
            <a:r>
              <a:rPr sz="2000" b="1" i="0">
                <a:solidFill>
                  <a:srgbClr val="CFE4F0"/>
                </a:solidFill>
                <a:latin typeface="Calibri"/>
              </a:rPr>
              <a:t>9.6</a:t>
            </a:r>
          </a:p>
        </p:txBody>
      </p:sp>
      <p:sp>
        <p:nvSpPr>
          <p:cNvPr id="4" name="TextBox 3"/>
          <p:cNvSpPr txBox="1"/>
          <p:nvPr/>
        </p:nvSpPr>
        <p:spPr>
          <a:xfrm>
            <a:off x="822960" y="2926080"/>
            <a:ext cx="10515600" cy="1280160"/>
          </a:xfrm>
          <a:prstGeom prst="rect">
            <a:avLst/>
          </a:prstGeom>
          <a:noFill/>
        </p:spPr>
        <p:txBody>
          <a:bodyPr wrap="square">
            <a:spAutoFit/>
          </a:bodyPr>
          <a:lstStyle/>
          <a:p>
            <a:r>
              <a:rPr sz="3400" b="1" i="0">
                <a:solidFill>
                  <a:srgbClr val="FFFFFF"/>
                </a:solidFill>
                <a:latin typeface="Calibri"/>
              </a:rPr>
              <a:t>DNA treatment: frozen vs relaxed</a:t>
            </a:r>
          </a:p>
        </p:txBody>
      </p:sp>
      <p:sp>
        <p:nvSpPr>
          <p:cNvPr id="5" name="TextBox 4"/>
          <p:cNvSpPr txBox="1"/>
          <p:nvPr/>
        </p:nvSpPr>
        <p:spPr>
          <a:xfrm>
            <a:off x="822960" y="4297680"/>
            <a:ext cx="10515600" cy="1280160"/>
          </a:xfrm>
          <a:prstGeom prst="rect">
            <a:avLst/>
          </a:prstGeom>
          <a:noFill/>
        </p:spPr>
        <p:txBody>
          <a:bodyPr wrap="square">
            <a:spAutoFit/>
          </a:bodyPr>
          <a:lstStyle/>
          <a:p>
            <a:r>
              <a:rPr sz="1700" b="0" i="0">
                <a:solidFill>
                  <a:srgbClr val="E4EFF5"/>
                </a:solidFill>
                <a:latin typeface="Calibri"/>
              </a:rPr>
              <a:t>The single most consequential knob — it decides what the augmentation experiment even tests.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822960"/>
          </a:xfrm>
          <a:prstGeom prst="rect">
            <a:avLst/>
          </a:prstGeom>
          <a:noFill/>
        </p:spPr>
        <p:txBody>
          <a:bodyPr wrap="square">
            <a:spAutoFit/>
          </a:bodyPr>
          <a:lstStyle/>
          <a:p>
            <a:r>
              <a:rPr sz="2600" b="1" i="0">
                <a:solidFill>
                  <a:srgbClr val="1A1A1A"/>
                </a:solidFill>
                <a:latin typeface="Calibri"/>
              </a:rPr>
              <a:t>9.6 · The knob that defines the experiment</a:t>
            </a:r>
          </a:p>
        </p:txBody>
      </p:sp>
      <p:sp>
        <p:nvSpPr>
          <p:cNvPr id="4" name="TextBox 3"/>
          <p:cNvSpPr txBox="1"/>
          <p:nvPr/>
        </p:nvSpPr>
        <p:spPr>
          <a:xfrm>
            <a:off x="640080" y="1371600"/>
            <a:ext cx="10972800" cy="5120640"/>
          </a:xfrm>
          <a:prstGeom prst="rect">
            <a:avLst/>
          </a:prstGeom>
          <a:noFill/>
        </p:spPr>
        <p:txBody>
          <a:bodyPr wrap="square">
            <a:spAutoFit/>
          </a:bodyPr>
          <a:lstStyle/>
          <a:p>
            <a:pPr>
              <a:spcAft>
                <a:spcPts val="400"/>
              </a:spcAft>
            </a:pPr>
            <a:r>
              <a:rPr sz="1600" b="1" i="0">
                <a:solidFill>
                  <a:srgbClr val="1A1A1A"/>
                </a:solidFill>
                <a:latin typeface="Calibri"/>
              </a:rPr>
              <a:t>• DNA restraint stiffness decides what we are augmenting:</a:t>
            </a:r>
          </a:p>
          <a:p>
            <a:pPr lvl="1">
              <a:spcAft>
                <a:spcPts val="400"/>
              </a:spcAft>
            </a:pPr>
            <a:r>
              <a:rPr sz="1500" b="0" i="0">
                <a:solidFill>
                  <a:srgbClr val="1A1A1A"/>
                </a:solidFill>
                <a:latin typeface="Calibri"/>
              </a:rPr>
              <a:t>– stiff DNA → an ensemble of protein poses AROUND A FIXED binding site</a:t>
            </a:r>
          </a:p>
          <a:p>
            <a:pPr lvl="1">
              <a:spcAft>
                <a:spcPts val="400"/>
              </a:spcAft>
            </a:pPr>
            <a:r>
              <a:rPr sz="1500" b="1" i="0">
                <a:solidFill>
                  <a:srgbClr val="2E7FA8"/>
                </a:solidFill>
                <a:latin typeface="Calibri"/>
              </a:rPr>
              <a:t>– soft DNA → an ensemble of GENUINE BINDING MODES (protein + DNA co-adapt)</a:t>
            </a:r>
          </a:p>
          <a:p>
            <a:pPr>
              <a:spcAft>
                <a:spcPts val="400"/>
              </a:spcAft>
            </a:pPr>
            <a:r>
              <a:rPr sz="1600" b="1" i="0">
                <a:solidFill>
                  <a:srgbClr val="1A1A1A"/>
                </a:solidFill>
                <a:latin typeface="Calibri"/>
              </a:rPr>
              <a:t>• Frozen (default, --dna-restraint-k omitted):</a:t>
            </a:r>
          </a:p>
          <a:p>
            <a:pPr lvl="1">
              <a:spcAft>
                <a:spcPts val="400"/>
              </a:spcAft>
            </a:pPr>
            <a:r>
              <a:rPr sz="1300" b="0" i="0">
                <a:solidFill>
                  <a:srgbClr val="1A1A1A"/>
                </a:solidFill>
                <a:latin typeface="Calibri"/>
              </a:rPr>
              <a:t>– protein + DNA backbone share ONE force at k = 10 — byte-for-byte the original behavior</a:t>
            </a:r>
          </a:p>
          <a:p>
            <a:pPr>
              <a:spcAft>
                <a:spcPts val="400"/>
              </a:spcAft>
            </a:pPr>
            <a:r>
              <a:rPr sz="1600" b="1" i="0">
                <a:solidFill>
                  <a:srgbClr val="2E7FA8"/>
                </a:solidFill>
                <a:latin typeface="Calibri"/>
              </a:rPr>
              <a:t>• Relaxed (_dnarelax, --dna-restraint-k given):</a:t>
            </a:r>
          </a:p>
          <a:p>
            <a:pPr lvl="1">
              <a:spcAft>
                <a:spcPts val="400"/>
              </a:spcAft>
            </a:pPr>
            <a:r>
              <a:rPr sz="1300" b="0" i="0">
                <a:solidFill>
                  <a:srgbClr val="1A1A1A"/>
                </a:solidFill>
                <a:latin typeface="Calibri"/>
              </a:rPr>
              <a:t>– DNA split onto its OWN force (global param k_dna). k_dna=1.5 = soft tether; k_dna=0 = fully free</a:t>
            </a:r>
          </a:p>
          <a:p>
            <a:pPr>
              <a:spcAft>
                <a:spcPts val="400"/>
              </a:spcAft>
            </a:pPr>
            <a:r>
              <a:rPr sz="1400" b="0" i="0">
                <a:solidFill>
                  <a:srgbClr val="1A1A1A"/>
                </a:solidFill>
                <a:latin typeface="Calibri"/>
              </a:rPr>
              <a:t>• Late release (--dna-release-stage 5): DNA held at protein k through ramp stages 1–4,</a:t>
            </a:r>
          </a:p>
          <a:p>
            <a:pPr lvl="1">
              <a:spcAft>
                <a:spcPts val="400"/>
              </a:spcAft>
            </a:pPr>
            <a:r>
              <a:rPr sz="1300" b="0" i="0">
                <a:solidFill>
                  <a:srgbClr val="6B6B6B"/>
                </a:solidFill>
                <a:latin typeface="Calibri"/>
              </a:rPr>
              <a:t>– dropped to k_dna=1.5 only for the last ramp rung + the final minimization (protein settles first)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822960"/>
          </a:xfrm>
          <a:prstGeom prst="rect">
            <a:avLst/>
          </a:prstGeom>
          <a:noFill/>
        </p:spPr>
        <p:txBody>
          <a:bodyPr wrap="square">
            <a:spAutoFit/>
          </a:bodyPr>
          <a:lstStyle/>
          <a:p>
            <a:r>
              <a:rPr sz="2600" b="1" i="0">
                <a:solidFill>
                  <a:srgbClr val="1A1A1A"/>
                </a:solidFill>
                <a:latin typeface="Calibri"/>
              </a:rPr>
              <a:t>9.6 · The relaxed arm — config &amp; why baselines don't compare</a:t>
            </a:r>
          </a:p>
        </p:txBody>
      </p:sp>
      <p:sp>
        <p:nvSpPr>
          <p:cNvPr id="4" name="TextBox 3"/>
          <p:cNvSpPr txBox="1"/>
          <p:nvPr/>
        </p:nvSpPr>
        <p:spPr>
          <a:xfrm>
            <a:off x="640080" y="1371600"/>
            <a:ext cx="10972800" cy="5120640"/>
          </a:xfrm>
          <a:prstGeom prst="rect">
            <a:avLst/>
          </a:prstGeom>
          <a:noFill/>
        </p:spPr>
        <p:txBody>
          <a:bodyPr wrap="square">
            <a:spAutoFit/>
          </a:bodyPr>
          <a:lstStyle/>
          <a:p>
            <a:pPr>
              <a:spcAft>
                <a:spcPts val="400"/>
              </a:spcAft>
            </a:pPr>
            <a:r>
              <a:rPr sz="1600" b="1" i="0">
                <a:solidFill>
                  <a:srgbClr val="1A1A1A"/>
                </a:solidFill>
                <a:latin typeface="Calibri"/>
              </a:rPr>
              <a:t>• The whole delta from tbp.sh → tbp_dnarelax.sh is two lines:</a:t>
            </a:r>
          </a:p>
          <a:p>
            <a:pPr lvl="1">
              <a:spcAft>
                <a:spcPts val="400"/>
              </a:spcAft>
            </a:pPr>
            <a:r>
              <a:rPr sz="1200" b="0" i="0">
                <a:solidFill>
                  <a:srgbClr val="6B6B6B"/>
                </a:solidFill>
                <a:latin typeface="Consolas"/>
              </a:rPr>
              <a:t>– source "${_here}/tbp.sh"           # inherits TF_NAME, PDB_ID, chains, ramp, N_FRAMES, FOLD</a:t>
            </a:r>
          </a:p>
          <a:p>
            <a:pPr lvl="1">
              <a:spcAft>
                <a:spcPts val="400"/>
              </a:spcAft>
            </a:pPr>
            <a:r>
              <a:rPr sz="1300" b="0" i="0">
                <a:solidFill>
                  <a:srgbClr val="2E7FA8"/>
                </a:solidFill>
                <a:latin typeface="Consolas"/>
              </a:rPr>
              <a:t>– export STAGE3_DNA_RESTRAINT_K=1.5</a:t>
            </a:r>
          </a:p>
          <a:p>
            <a:pPr lvl="1">
              <a:spcAft>
                <a:spcPts val="400"/>
              </a:spcAft>
            </a:pPr>
            <a:r>
              <a:rPr sz="1300" b="0" i="0">
                <a:solidFill>
                  <a:srgbClr val="2E7FA8"/>
                </a:solidFill>
                <a:latin typeface="Consolas"/>
              </a:rPr>
              <a:t>– export STAGE3_DNA_RELEASE_STAGE=5</a:t>
            </a:r>
          </a:p>
          <a:p>
            <a:pPr>
              <a:spcAft>
                <a:spcPts val="400"/>
              </a:spcAft>
            </a:pPr>
            <a:r>
              <a:rPr sz="1300" b="0" i="0">
                <a:solidFill>
                  <a:srgbClr val="1A1A1A"/>
                </a:solidFill>
                <a:latin typeface="Calibri"/>
              </a:rPr>
              <a:t>• TF_NAME stays 'tbp' → Stage 1 + Stage 2 are REUSED; common.sh appends _dnarelax to Stage 3+ paths</a:t>
            </a:r>
          </a:p>
          <a:p>
            <a:pPr lvl="1">
              <a:spcAft>
                <a:spcPts val="400"/>
              </a:spcAft>
            </a:pPr>
            <a:r>
              <a:rPr sz="1200" b="0" i="0">
                <a:solidFill>
                  <a:srgbClr val="6B6B6B"/>
                </a:solidFill>
                <a:latin typeface="Consolas"/>
              </a:rPr>
              <a:t>– launch: run_pilot.sh tbp_dnarelax 3 5  (start at stage 3 — stage 2 docked is shared)</a:t>
            </a:r>
          </a:p>
          <a:p>
            <a:pPr>
              <a:spcAft>
                <a:spcPts val="400"/>
              </a:spcAft>
            </a:pPr>
            <a:r>
              <a:rPr sz="1600" b="1" i="0">
                <a:solidFill>
                  <a:srgbClr val="D1495B"/>
                </a:solidFill>
                <a:latin typeface="Calibri"/>
              </a:rPr>
              <a:t>• Two INDEPENDENT seed-paired experiments:</a:t>
            </a:r>
          </a:p>
          <a:p>
            <a:pPr lvl="1">
              <a:spcAft>
                <a:spcPts val="400"/>
              </a:spcAft>
            </a:pPr>
            <a:r>
              <a:rPr sz="1300" b="0" i="0">
                <a:solidFill>
                  <a:srgbClr val="D1495B"/>
                </a:solidFill>
                <a:latin typeface="Calibri"/>
              </a:rPr>
              <a:t>– frozen &amp; relaxed each retrain their OWN baseline → absolute Pearson NOT comparable across them</a:t>
            </a:r>
          </a:p>
          <a:p>
            <a:pPr lvl="1">
              <a:spcAft>
                <a:spcPts val="400"/>
              </a:spcAft>
            </a:pPr>
            <a:r>
              <a:rPr sz="1300" b="0" i="0">
                <a:solidFill>
                  <a:srgbClr val="1A1A1A"/>
                </a:solidFill>
                <a:latin typeface="Calibri"/>
              </a:rPr>
              <a:t>– the only cross-treatment quantity is the within-pipeline, seed-matched ΔPearson</a:t>
            </a:r>
          </a:p>
          <a:p>
            <a:pPr lvl="1">
              <a:spcAft>
                <a:spcPts val="400"/>
              </a:spcAft>
            </a:pPr>
            <a:r>
              <a:rPr sz="1200" b="0" i="0">
                <a:solidFill>
                  <a:srgbClr val="6B6B6B"/>
                </a:solidFill>
                <a:latin typeface="Calibri"/>
              </a:rPr>
              <a:t>– figure convention: grey = baseline · teal = augmented·frozen · green = augmented·relaxed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822960"/>
          </a:xfrm>
          <a:prstGeom prst="rect">
            <a:avLst/>
          </a:prstGeom>
          <a:noFill/>
        </p:spPr>
        <p:txBody>
          <a:bodyPr wrap="square">
            <a:spAutoFit/>
          </a:bodyPr>
          <a:lstStyle/>
          <a:p>
            <a:r>
              <a:rPr sz="2600" b="1" i="0">
                <a:solidFill>
                  <a:srgbClr val="1A1A1A"/>
                </a:solidFill>
                <a:latin typeface="Calibri"/>
              </a:rPr>
              <a:t>9.6 · Caveats on the relaxed variant</a:t>
            </a:r>
          </a:p>
        </p:txBody>
      </p:sp>
      <p:sp>
        <p:nvSpPr>
          <p:cNvPr id="4" name="TextBox 3"/>
          <p:cNvSpPr txBox="1"/>
          <p:nvPr/>
        </p:nvSpPr>
        <p:spPr>
          <a:xfrm>
            <a:off x="640080" y="1371600"/>
            <a:ext cx="10972800" cy="5120640"/>
          </a:xfrm>
          <a:prstGeom prst="rect">
            <a:avLst/>
          </a:prstGeom>
          <a:noFill/>
        </p:spPr>
        <p:txBody>
          <a:bodyPr wrap="square">
            <a:spAutoFit/>
          </a:bodyPr>
          <a:lstStyle/>
          <a:p>
            <a:pPr>
              <a:spcAft>
                <a:spcPts val="400"/>
              </a:spcAft>
            </a:pPr>
            <a:r>
              <a:rPr sz="1600" b="1" i="0">
                <a:solidFill>
                  <a:srgbClr val="1A1A1A"/>
                </a:solidFill>
                <a:latin typeface="Calibri"/>
              </a:rPr>
              <a:t>• k_dna = 1.5 is a deliberate stiffness FLOOR, not a principled value</a:t>
            </a:r>
          </a:p>
          <a:p>
            <a:pPr lvl="1">
              <a:spcAft>
                <a:spcPts val="400"/>
              </a:spcAft>
            </a:pPr>
            <a:r>
              <a:rPr sz="1300" b="0" i="0">
                <a:solidFill>
                  <a:srgbClr val="6B6B6B"/>
                </a:solidFill>
                <a:latin typeface="Calibri"/>
              </a:rPr>
              <a:t>– a floor against GBSA-driven B-DNA melting; the on-ramp to a Tier-2 cgDNA+ stiffness prior</a:t>
            </a:r>
          </a:p>
          <a:p>
            <a:pPr lvl="1">
              <a:spcAft>
                <a:spcPts val="400"/>
              </a:spcAft>
            </a:pPr>
            <a:r>
              <a:rPr sz="1300" b="0" i="0">
                <a:solidFill>
                  <a:srgbClr val="6B6B6B"/>
                </a:solidFill>
                <a:latin typeface="Calibri"/>
              </a:rPr>
              <a:t>– the principled per-sequence replacement is Ch. 20 — this flat number is the interim</a:t>
            </a:r>
          </a:p>
          <a:p>
            <a:pPr>
              <a:spcAft>
                <a:spcPts val="400"/>
              </a:spcAft>
            </a:pPr>
            <a:r>
              <a:rPr sz="1600" b="1" i="0">
                <a:solidFill>
                  <a:srgbClr val="D1495B"/>
                </a:solidFill>
                <a:latin typeface="Calibri"/>
              </a:rPr>
              <a:t>• GBSA fraying risk is exactly why the floor exists</a:t>
            </a:r>
          </a:p>
          <a:p>
            <a:pPr lvl="1">
              <a:spcAft>
                <a:spcPts val="400"/>
              </a:spcAft>
            </a:pPr>
            <a:r>
              <a:rPr sz="1300" b="0" i="0">
                <a:solidFill>
                  <a:srgbClr val="D1495B"/>
                </a:solidFill>
                <a:latin typeface="Calibri"/>
              </a:rPr>
              <a:t>– releasing DNA toward k_dna=0 under implicit solvent (no counter-ions) risks the duplex fraying</a:t>
            </a:r>
          </a:p>
          <a:p>
            <a:pPr>
              <a:spcAft>
                <a:spcPts val="400"/>
              </a:spcAft>
            </a:pPr>
            <a:r>
              <a:rPr sz="1600" b="1" i="0">
                <a:solidFill>
                  <a:srgbClr val="1A1A1A"/>
                </a:solidFill>
                <a:latin typeface="Calibri"/>
              </a:rPr>
              <a:t>• Coverage is partial — treat all DNA-relaxation results as directional / preliminary:</a:t>
            </a:r>
          </a:p>
          <a:p>
            <a:pPr lvl="1">
              <a:spcAft>
                <a:spcPts val="400"/>
              </a:spcAft>
            </a:pPr>
            <a:r>
              <a:rPr sz="1300" b="0" i="0">
                <a:solidFill>
                  <a:srgbClr val="1A1A1A"/>
                </a:solidFill>
                <a:latin typeface="Calibri"/>
              </a:rPr>
              <a:t>– 7 pilots have _dnarelax data · 2 trained · 1 evaluated (tbp_dnarelax, slightly worse than frozen tbp)</a:t>
            </a:r>
          </a:p>
          <a:p>
            <a:pPr lvl="1">
              <a:spcAft>
                <a:spcPts val="400"/>
              </a:spcAft>
            </a:pPr>
            <a:r>
              <a:rPr sz="1200" b="0" i="0">
                <a:solidFill>
                  <a:srgbClr val="6B6B6B"/>
                </a:solidFill>
                <a:latin typeface="Calibri"/>
              </a:rPr>
              <a:t>– eval JSONs confirm: 10 standard vs 9 _dnarelax (csl has no relaxed run)</a:t>
            </a:r>
          </a:p>
          <a:p>
            <a:pPr>
              <a:spcAft>
                <a:spcPts val="400"/>
              </a:spcAft>
            </a:pPr>
            <a:r>
              <a:rPr sz="1100" b="0" i="0">
                <a:solidFill>
                  <a:srgbClr val="6B6B6B"/>
                </a:solidFill>
                <a:latin typeface="Consolas"/>
              </a:rPr>
              <a:t>• Validation tooling: stage3_minimize/validation/ (analyze_dna_relax.py, smoke tests, fnat rescore)</a:t>
            </a:r>
          </a:p>
          <a:p>
            <a:pPr>
              <a:spcAft>
                <a:spcPts val="400"/>
              </a:spcAft>
            </a:pPr>
            <a:r>
              <a:rPr sz="1600" b="0" i="1">
                <a:solidFill>
                  <a:srgbClr val="6B6B6B"/>
                </a:solidFill>
                <a:latin typeface="Calibri"/>
              </a:rPr>
              <a:t>• Forward links: structural consequences → Ch. 18 · principled priors → Ch. 20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822960"/>
          </a:xfrm>
          <a:prstGeom prst="rect">
            <a:avLst/>
          </a:prstGeom>
          <a:noFill/>
        </p:spPr>
        <p:txBody>
          <a:bodyPr wrap="square">
            <a:spAutoFit/>
          </a:bodyPr>
          <a:lstStyle/>
          <a:p>
            <a:r>
              <a:rPr sz="2400" b="1" i="0">
                <a:solidFill>
                  <a:srgbClr val="1A1A1A"/>
                </a:solidFill>
                <a:latin typeface="Calibri"/>
              </a:rPr>
              <a:t>Bonus · Where the motion lives — R2 per-residue profile</a:t>
            </a:r>
          </a:p>
        </p:txBody>
      </p:sp>
      <p:pic>
        <p:nvPicPr>
          <p:cNvPr id="4" name="Picture 3" descr="v7877d9a1_R2_per_residue_profiles.png"/>
          <p:cNvPicPr>
            <a:picLocks noChangeAspect="1"/>
          </p:cNvPicPr>
          <p:nvPr/>
        </p:nvPicPr>
        <p:blipFill>
          <a:blip r:embed="rId2"/>
          <a:stretch>
            <a:fillRect/>
          </a:stretch>
        </p:blipFill>
        <p:spPr>
          <a:xfrm>
            <a:off x="1841481" y="1280160"/>
            <a:ext cx="8508732" cy="4754880"/>
          </a:xfrm>
          <a:prstGeom prst="rect">
            <a:avLst/>
          </a:prstGeom>
        </p:spPr>
      </p:pic>
      <p:sp>
        <p:nvSpPr>
          <p:cNvPr id="5" name="TextBox 4"/>
          <p:cNvSpPr txBox="1"/>
          <p:nvPr/>
        </p:nvSpPr>
        <p:spPr>
          <a:xfrm>
            <a:off x="1841481" y="6080760"/>
            <a:ext cx="8508732" cy="822960"/>
          </a:xfrm>
          <a:prstGeom prst="rect">
            <a:avLst/>
          </a:prstGeom>
          <a:noFill/>
        </p:spPr>
        <p:txBody>
          <a:bodyPr wrap="square">
            <a:spAutoFit/>
          </a:bodyPr>
          <a:lstStyle/>
          <a:p>
            <a:r>
              <a:rPr sz="1100" b="0" i="1">
                <a:solidFill>
                  <a:srgbClr val="6B6B6B"/>
                </a:solidFill>
                <a:latin typeface="Calibri"/>
              </a:rPr>
              <a:t>Mean per-residue Cα RMSD to crystal, per pilot. The universal signature: rigid cores (low, flat interiors) with mobile termini (the spikes at chain ends). Minimization and the ensemble spread concentrate in the same floppy regions the rigidity ordering predicts — the interface cores that carry recognition are the parts that stay put.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822960"/>
          </a:xfrm>
          <a:prstGeom prst="rect">
            <a:avLst/>
          </a:prstGeom>
          <a:noFill/>
        </p:spPr>
        <p:txBody>
          <a:bodyPr wrap="square">
            <a:spAutoFit/>
          </a:bodyPr>
          <a:lstStyle/>
          <a:p>
            <a:r>
              <a:rPr sz="2600" b="1" i="0">
                <a:solidFill>
                  <a:srgbClr val="1A1A1A"/>
                </a:solidFill>
                <a:latin typeface="Calibri"/>
              </a:rPr>
              <a:t>What a green Stage-3 result looks like</a:t>
            </a:r>
          </a:p>
        </p:txBody>
      </p:sp>
      <p:sp>
        <p:nvSpPr>
          <p:cNvPr id="4" name="TextBox 3"/>
          <p:cNvSpPr txBox="1"/>
          <p:nvPr/>
        </p:nvSpPr>
        <p:spPr>
          <a:xfrm>
            <a:off x="640080" y="1371600"/>
            <a:ext cx="10972800" cy="5120640"/>
          </a:xfrm>
          <a:prstGeom prst="rect">
            <a:avLst/>
          </a:prstGeom>
          <a:noFill/>
        </p:spPr>
        <p:txBody>
          <a:bodyPr wrap="square">
            <a:spAutoFit/>
          </a:bodyPr>
          <a:lstStyle/>
          <a:p>
            <a:pPr>
              <a:spcAft>
                <a:spcPts val="400"/>
              </a:spcAft>
            </a:pPr>
            <a:r>
              <a:rPr sz="1600" b="0" i="0">
                <a:solidFill>
                  <a:srgbClr val="1A1A1A"/>
                </a:solidFill>
                <a:latin typeface="Calibri"/>
              </a:rPr>
              <a:t>• Clashes resolved — per-state log: heavy-atom clashes (&lt;2.4 Å) hundreds → near-zero, min dist opens</a:t>
            </a:r>
          </a:p>
          <a:p>
            <a:pPr>
              <a:spcAft>
                <a:spcPts val="400"/>
              </a:spcAft>
            </a:pPr>
            <a:r>
              <a:rPr sz="1600" b="0" i="0">
                <a:solidFill>
                  <a:srgbClr val="1A1A1A"/>
                </a:solidFill>
                <a:latin typeface="Calibri"/>
              </a:rPr>
              <a:t>• Pose preserved — R1: Stage2≈Stage3 backbone RMSD; R3: per-state median Δ ≤ 0 (toward crystal)</a:t>
            </a:r>
          </a:p>
          <a:p>
            <a:pPr lvl="1">
              <a:spcAft>
                <a:spcPts val="400"/>
              </a:spcAft>
            </a:pPr>
            <a:r>
              <a:rPr sz="1300" b="0" i="0">
                <a:solidFill>
                  <a:srgbClr val="D1495B"/>
                </a:solidFill>
                <a:latin typeface="Calibri"/>
              </a:rPr>
              <a:t>– a clearly positive R3 median = minimization walking frames OFF the pose → investigate</a:t>
            </a:r>
          </a:p>
          <a:p>
            <a:pPr>
              <a:spcAft>
                <a:spcPts val="400"/>
              </a:spcAft>
            </a:pPr>
            <a:r>
              <a:rPr sz="1600" b="0" i="0">
                <a:solidFill>
                  <a:srgbClr val="1A1A1A"/>
                </a:solidFill>
                <a:latin typeface="Calibri"/>
              </a:rPr>
              <a:t>• Cage held — small mean/max cage drift; render shows intact coordination, not collapsed apo-Zn</a:t>
            </a:r>
          </a:p>
          <a:p>
            <a:pPr>
              <a:spcAft>
                <a:spcPts val="400"/>
              </a:spcAft>
            </a:pPr>
            <a:r>
              <a:rPr sz="1600" b="0" i="0">
                <a:solidFill>
                  <a:srgbClr val="1A1A1A"/>
                </a:solidFill>
                <a:latin typeface="Calibri"/>
              </a:rPr>
              <a:t>• Reachability sanity — compute_reachability.py --source stage3 reproduces the anchors:</a:t>
            </a:r>
          </a:p>
          <a:p>
            <a:pPr lvl="1">
              <a:spcAft>
                <a:spcPts val="400"/>
              </a:spcAft>
            </a:pPr>
            <a:r>
              <a:rPr sz="1200" b="0" i="0">
                <a:solidFill>
                  <a:srgbClr val="2E7FA8"/>
                </a:solidFill>
                <a:latin typeface="Consolas"/>
              </a:rPr>
              <a:t>– ets1 d_min ≈ 0.87 · tbp d_min ≈ 0.59 · dux4 ≈ 10 Å (far-unreachable, 0 fnat survivors)</a:t>
            </a:r>
          </a:p>
          <a:p>
            <a:pPr lvl="1">
              <a:spcAft>
                <a:spcPts val="400"/>
              </a:spcAft>
            </a:pPr>
            <a:r>
              <a:rPr sz="1200" b="0" i="0">
                <a:solidFill>
                  <a:srgbClr val="6B6B6B"/>
                </a:solidFill>
                <a:latin typeface="Calibri"/>
              </a:rPr>
              <a:t>– the script prints a VALIDATION line — mismatch = wrong --source or broken correspondence</a:t>
            </a:r>
          </a:p>
          <a:p>
            <a:pPr>
              <a:spcAft>
                <a:spcPts val="400"/>
              </a:spcAft>
            </a:pPr>
            <a:r>
              <a:rPr sz="1600" b="0" i="0">
                <a:solidFill>
                  <a:srgbClr val="1A1A1A"/>
                </a:solidFill>
                <a:latin typeface="Calibri"/>
              </a:rPr>
              <a:t>• Non-empty pass list into the fnat gate — an empty one exits non-zero &amp; halts the DAG by design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731520"/>
          </a:xfrm>
          <a:prstGeom prst="rect">
            <a:avLst/>
          </a:prstGeom>
          <a:noFill/>
        </p:spPr>
        <p:txBody>
          <a:bodyPr wrap="square">
            <a:spAutoFit/>
          </a:bodyPr>
          <a:lstStyle/>
          <a:p>
            <a:r>
              <a:rPr sz="2400" b="1" i="0">
                <a:solidFill>
                  <a:srgbClr val="1A1A1A"/>
                </a:solidFill>
                <a:latin typeface="Calibri"/>
              </a:rPr>
              <a:t>Runbook · every engine flag with its true default</a:t>
            </a:r>
          </a:p>
        </p:txBody>
      </p:sp>
      <p:graphicFrame>
        <p:nvGraphicFramePr>
          <p:cNvPr id="4" name="Table 3"/>
          <p:cNvGraphicFramePr>
            <a:graphicFrameLocks noGrp="1"/>
          </p:cNvGraphicFramePr>
          <p:nvPr/>
        </p:nvGraphicFramePr>
        <p:xfrm>
          <a:off x="457200" y="1234440"/>
          <a:ext cx="11247120" cy="5120640"/>
        </p:xfrm>
        <a:graphic>
          <a:graphicData uri="http://schemas.openxmlformats.org/drawingml/2006/table">
            <a:tbl>
              <a:tblPr firstRow="1" bandRow="1">
                <a:tableStyleId>{5C22544A-7EE6-4342-B048-85BDC9FD1C3A}</a:tableStyleId>
              </a:tblPr>
              <a:tblGrid>
                <a:gridCol w="3108960"/>
                <a:gridCol w="2834640"/>
                <a:gridCol w="5303520"/>
              </a:tblGrid>
              <a:tr h="465512">
                <a:tc>
                  <a:txBody>
                    <a:bodyPr/>
                    <a:lstStyle/>
                    <a:p>
                      <a:r>
                        <a:rPr sz="1300" b="1" i="0">
                          <a:solidFill>
                            <a:srgbClr val="FFFFFF"/>
                          </a:solidFill>
                          <a:latin typeface="Calibri"/>
                        </a:rPr>
                        <a:t>flag</a:t>
                      </a:r>
                    </a:p>
                  </a:txBody>
                  <a:tcPr>
                    <a:solidFill>
                      <a:srgbClr val="2E7FA8"/>
                    </a:solidFill>
                  </a:tcPr>
                </a:tc>
                <a:tc>
                  <a:txBody>
                    <a:bodyPr/>
                    <a:lstStyle/>
                    <a:p>
                      <a:r>
                        <a:rPr sz="1300" b="1" i="0">
                          <a:solidFill>
                            <a:srgbClr val="FFFFFF"/>
                          </a:solidFill>
                          <a:latin typeface="Calibri"/>
                        </a:rPr>
                        <a:t>default</a:t>
                      </a:r>
                    </a:p>
                  </a:txBody>
                  <a:tcPr>
                    <a:solidFill>
                      <a:srgbClr val="2E7FA8"/>
                    </a:solidFill>
                  </a:tcPr>
                </a:tc>
                <a:tc>
                  <a:txBody>
                    <a:bodyPr/>
                    <a:lstStyle/>
                    <a:p>
                      <a:r>
                        <a:rPr sz="1300" b="1" i="0">
                          <a:solidFill>
                            <a:srgbClr val="FFFFFF"/>
                          </a:solidFill>
                          <a:latin typeface="Calibri"/>
                        </a:rPr>
                        <a:t>controls</a:t>
                      </a:r>
                    </a:p>
                  </a:txBody>
                  <a:tcPr>
                    <a:solidFill>
                      <a:srgbClr val="2E7FA8"/>
                    </a:solidFill>
                  </a:tcPr>
                </a:tc>
              </a:tr>
              <a:tr h="465512">
                <a:tc>
                  <a:txBody>
                    <a:bodyPr/>
                    <a:lstStyle/>
                    <a:p>
                      <a:r>
                        <a:rPr sz="1050" b="0" i="0">
                          <a:solidFill>
                            <a:srgbClr val="1A1A1A"/>
                          </a:solidFill>
                          <a:latin typeface="Consolas"/>
                        </a:rPr>
                        <a:t>--restraint-k</a:t>
                      </a:r>
                    </a:p>
                  </a:txBody>
                  <a:tcPr>
                    <a:solidFill>
                      <a:srgbClr val="F2F4F6"/>
                    </a:solidFill>
                  </a:tcPr>
                </a:tc>
                <a:tc>
                  <a:txBody>
                    <a:bodyPr/>
                    <a:lstStyle/>
                    <a:p>
                      <a:r>
                        <a:rPr sz="1050" b="0" i="0">
                          <a:solidFill>
                            <a:srgbClr val="1A1A1A"/>
                          </a:solidFill>
                          <a:latin typeface="Consolas"/>
                        </a:rPr>
                        <a:t>10.0</a:t>
                      </a:r>
                    </a:p>
                  </a:txBody>
                  <a:tcPr>
                    <a:solidFill>
                      <a:srgbClr val="F2F4F6"/>
                    </a:solidFill>
                  </a:tcPr>
                </a:tc>
                <a:tc>
                  <a:txBody>
                    <a:bodyPr/>
                    <a:lstStyle/>
                    <a:p>
                      <a:r>
                        <a:rPr sz="1050" b="0" i="0">
                          <a:solidFill>
                            <a:srgbClr val="1A1A1A"/>
                          </a:solidFill>
                          <a:latin typeface="Calibri"/>
                        </a:rPr>
                        <a:t>protein backbone harmonic restraint (kcal/mol/Å²)</a:t>
                      </a:r>
                    </a:p>
                  </a:txBody>
                  <a:tcPr>
                    <a:solidFill>
                      <a:srgbClr val="F2F4F6"/>
                    </a:solidFill>
                  </a:tcPr>
                </a:tc>
              </a:tr>
              <a:tr h="465512">
                <a:tc>
                  <a:txBody>
                    <a:bodyPr/>
                    <a:lstStyle/>
                    <a:p>
                      <a:r>
                        <a:rPr sz="1050" b="0" i="0">
                          <a:solidFill>
                            <a:srgbClr val="1A1A1A"/>
                          </a:solidFill>
                          <a:latin typeface="Consolas"/>
                        </a:rPr>
                        <a:t>--dna-restraint-k</a:t>
                      </a:r>
                    </a:p>
                  </a:txBody>
                  <a:tcPr>
                    <a:solidFill>
                      <a:srgbClr val="FFFFFF"/>
                    </a:solidFill>
                  </a:tcPr>
                </a:tc>
                <a:tc>
                  <a:txBody>
                    <a:bodyPr/>
                    <a:lstStyle/>
                    <a:p>
                      <a:r>
                        <a:rPr sz="1050" b="0" i="0">
                          <a:solidFill>
                            <a:srgbClr val="1A1A1A"/>
                          </a:solidFill>
                          <a:latin typeface="Consolas"/>
                        </a:rPr>
                        <a:t>None → uses --restraint-k</a:t>
                      </a:r>
                    </a:p>
                  </a:txBody>
                  <a:tcPr>
                    <a:solidFill>
                      <a:srgbClr val="FFFFFF"/>
                    </a:solidFill>
                  </a:tcPr>
                </a:tc>
                <a:tc>
                  <a:txBody>
                    <a:bodyPr/>
                    <a:lstStyle/>
                    <a:p>
                      <a:r>
                        <a:rPr sz="1050" b="0" i="0">
                          <a:solidFill>
                            <a:srgbClr val="1A1A1A"/>
                          </a:solidFill>
                          <a:latin typeface="Calibri"/>
                        </a:rPr>
                        <a:t>DNA backbone split onto own k_dna force; 1.5 = tether, 0 = free</a:t>
                      </a:r>
                    </a:p>
                  </a:txBody>
                  <a:tcPr>
                    <a:solidFill>
                      <a:srgbClr val="FFFFFF"/>
                    </a:solidFill>
                  </a:tcPr>
                </a:tc>
              </a:tr>
              <a:tr h="465512">
                <a:tc>
                  <a:txBody>
                    <a:bodyPr/>
                    <a:lstStyle/>
                    <a:p>
                      <a:r>
                        <a:rPr sz="1050" b="0" i="0">
                          <a:solidFill>
                            <a:srgbClr val="1A1A1A"/>
                          </a:solidFill>
                          <a:latin typeface="Consolas"/>
                        </a:rPr>
                        <a:t>--dna-release-stage</a:t>
                      </a:r>
                    </a:p>
                  </a:txBody>
                  <a:tcPr>
                    <a:solidFill>
                      <a:srgbClr val="F2F4F6"/>
                    </a:solidFill>
                  </a:tcPr>
                </a:tc>
                <a:tc>
                  <a:txBody>
                    <a:bodyPr/>
                    <a:lstStyle/>
                    <a:p>
                      <a:r>
                        <a:rPr sz="1050" b="0" i="0">
                          <a:solidFill>
                            <a:srgbClr val="1A1A1A"/>
                          </a:solidFill>
                          <a:latin typeface="Consolas"/>
                        </a:rPr>
                        <a:t>None</a:t>
                      </a:r>
                    </a:p>
                  </a:txBody>
                  <a:tcPr>
                    <a:solidFill>
                      <a:srgbClr val="F2F4F6"/>
                    </a:solidFill>
                  </a:tcPr>
                </a:tc>
                <a:tc>
                  <a:txBody>
                    <a:bodyPr/>
                    <a:lstStyle/>
                    <a:p>
                      <a:r>
                        <a:rPr sz="1050" b="0" i="0">
                          <a:solidFill>
                            <a:srgbClr val="1A1A1A"/>
                          </a:solidFill>
                          <a:latin typeface="Calibri"/>
                        </a:rPr>
                        <a:t>1-based ramp stage k_dna drops to target (needs --dna-restraint-k)</a:t>
                      </a:r>
                    </a:p>
                  </a:txBody>
                  <a:tcPr>
                    <a:solidFill>
                      <a:srgbClr val="F2F4F6"/>
                    </a:solidFill>
                  </a:tcPr>
                </a:tc>
              </a:tr>
              <a:tr h="465512">
                <a:tc>
                  <a:txBody>
                    <a:bodyPr/>
                    <a:lstStyle/>
                    <a:p>
                      <a:r>
                        <a:rPr sz="1050" b="0" i="0">
                          <a:solidFill>
                            <a:srgbClr val="1A1A1A"/>
                          </a:solidFill>
                          <a:latin typeface="Consolas"/>
                        </a:rPr>
                        <a:t>--metal-cage-k</a:t>
                      </a:r>
                    </a:p>
                  </a:txBody>
                  <a:tcPr>
                    <a:solidFill>
                      <a:srgbClr val="FFFFFF"/>
                    </a:solidFill>
                  </a:tcPr>
                </a:tc>
                <a:tc>
                  <a:txBody>
                    <a:bodyPr/>
                    <a:lstStyle/>
                    <a:p>
                      <a:r>
                        <a:rPr sz="1050" b="0" i="0">
                          <a:solidFill>
                            <a:srgbClr val="1A1A1A"/>
                          </a:solidFill>
                          <a:latin typeface="Consolas"/>
                        </a:rPr>
                        <a:t>20.0</a:t>
                      </a:r>
                    </a:p>
                  </a:txBody>
                  <a:tcPr>
                    <a:solidFill>
                      <a:srgbClr val="FFFFFF"/>
                    </a:solidFill>
                  </a:tcPr>
                </a:tc>
                <a:tc>
                  <a:txBody>
                    <a:bodyPr/>
                    <a:lstStyle/>
                    <a:p>
                      <a:r>
                        <a:rPr sz="1050" b="0" i="0">
                          <a:solidFill>
                            <a:srgbClr val="1A1A1A"/>
                          </a:solidFill>
                          <a:latin typeface="Calibri"/>
                        </a:rPr>
                        <a:t>coordination-cage HarmonicBondForce stiffness</a:t>
                      </a:r>
                    </a:p>
                  </a:txBody>
                  <a:tcPr>
                    <a:solidFill>
                      <a:srgbClr val="FFFFFF"/>
                    </a:solidFill>
                  </a:tcPr>
                </a:tc>
              </a:tr>
              <a:tr h="465512">
                <a:tc>
                  <a:txBody>
                    <a:bodyPr/>
                    <a:lstStyle/>
                    <a:p>
                      <a:r>
                        <a:rPr sz="1050" b="0" i="0">
                          <a:solidFill>
                            <a:srgbClr val="1A1A1A"/>
                          </a:solidFill>
                          <a:latin typeface="Consolas"/>
                        </a:rPr>
                        <a:t>--metal-coord-cutoff</a:t>
                      </a:r>
                    </a:p>
                  </a:txBody>
                  <a:tcPr>
                    <a:solidFill>
                      <a:srgbClr val="F2F4F6"/>
                    </a:solidFill>
                  </a:tcPr>
                </a:tc>
                <a:tc>
                  <a:txBody>
                    <a:bodyPr/>
                    <a:lstStyle/>
                    <a:p>
                      <a:r>
                        <a:rPr sz="1050" b="0" i="0">
                          <a:solidFill>
                            <a:srgbClr val="1A1A1A"/>
                          </a:solidFill>
                          <a:latin typeface="Consolas"/>
                        </a:rPr>
                        <a:t>3.0</a:t>
                      </a:r>
                    </a:p>
                  </a:txBody>
                  <a:tcPr>
                    <a:solidFill>
                      <a:srgbClr val="F2F4F6"/>
                    </a:solidFill>
                  </a:tcPr>
                </a:tc>
                <a:tc>
                  <a:txBody>
                    <a:bodyPr/>
                    <a:lstStyle/>
                    <a:p>
                      <a:r>
                        <a:rPr sz="1050" b="0" i="0">
                          <a:solidFill>
                            <a:srgbClr val="1A1A1A"/>
                          </a:solidFill>
                          <a:latin typeface="Calibri"/>
                        </a:rPr>
                        <a:t>Å within which a side-chain atom counts as coordinating</a:t>
                      </a:r>
                    </a:p>
                  </a:txBody>
                  <a:tcPr>
                    <a:solidFill>
                      <a:srgbClr val="F2F4F6"/>
                    </a:solidFill>
                  </a:tcPr>
                </a:tc>
              </a:tr>
              <a:tr h="465512">
                <a:tc>
                  <a:txBody>
                    <a:bodyPr/>
                    <a:lstStyle/>
                    <a:p>
                      <a:r>
                        <a:rPr sz="1050" b="0" i="0">
                          <a:solidFill>
                            <a:srgbClr val="1A1A1A"/>
                          </a:solidFill>
                          <a:latin typeface="Consolas"/>
                        </a:rPr>
                        <a:t>--ramp-stages</a:t>
                      </a:r>
                    </a:p>
                  </a:txBody>
                  <a:tcPr>
                    <a:solidFill>
                      <a:srgbClr val="FFFFFF"/>
                    </a:solidFill>
                  </a:tcPr>
                </a:tc>
                <a:tc>
                  <a:txBody>
                    <a:bodyPr/>
                    <a:lstStyle/>
                    <a:p>
                      <a:r>
                        <a:rPr sz="1050" b="0" i="0">
                          <a:solidFill>
                            <a:srgbClr val="1A1A1A"/>
                          </a:solidFill>
                          <a:latin typeface="Consolas"/>
                        </a:rPr>
                        <a:t>0.1,0.3,0.5,0.7,1.0</a:t>
                      </a:r>
                    </a:p>
                  </a:txBody>
                  <a:tcPr>
                    <a:solidFill>
                      <a:srgbClr val="FFFFFF"/>
                    </a:solidFill>
                  </a:tcPr>
                </a:tc>
                <a:tc>
                  <a:txBody>
                    <a:bodyPr/>
                    <a:lstStyle/>
                    <a:p>
                      <a:r>
                        <a:rPr sz="1050" b="0" i="0">
                          <a:solidFill>
                            <a:srgbClr val="1A1A1A"/>
                          </a:solidFill>
                          <a:latin typeface="Calibri"/>
                        </a:rPr>
                        <a:t>vdW σ soft-core ramp schedule</a:t>
                      </a:r>
                    </a:p>
                  </a:txBody>
                  <a:tcPr>
                    <a:solidFill>
                      <a:srgbClr val="FFFFFF"/>
                    </a:solidFill>
                  </a:tcPr>
                </a:tc>
              </a:tr>
              <a:tr h="465512">
                <a:tc>
                  <a:txBody>
                    <a:bodyPr/>
                    <a:lstStyle/>
                    <a:p>
                      <a:r>
                        <a:rPr sz="1050" b="0" i="0">
                          <a:solidFill>
                            <a:srgbClr val="1A1A1A"/>
                          </a:solidFill>
                          <a:latin typeface="Consolas"/>
                        </a:rPr>
                        <a:t>--steps-per-stage</a:t>
                      </a:r>
                    </a:p>
                  </a:txBody>
                  <a:tcPr>
                    <a:solidFill>
                      <a:srgbClr val="F2F4F6"/>
                    </a:solidFill>
                  </a:tcPr>
                </a:tc>
                <a:tc>
                  <a:txBody>
                    <a:bodyPr/>
                    <a:lstStyle/>
                    <a:p>
                      <a:r>
                        <a:rPr sz="1050" b="0" i="0">
                          <a:solidFill>
                            <a:srgbClr val="1A1A1A"/>
                          </a:solidFill>
                          <a:latin typeface="Consolas"/>
                        </a:rPr>
                        <a:t>500</a:t>
                      </a:r>
                    </a:p>
                  </a:txBody>
                  <a:tcPr>
                    <a:solidFill>
                      <a:srgbClr val="F2F4F6"/>
                    </a:solidFill>
                  </a:tcPr>
                </a:tc>
                <a:tc>
                  <a:txBody>
                    <a:bodyPr/>
                    <a:lstStyle/>
                    <a:p>
                      <a:r>
                        <a:rPr sz="1050" b="0" i="0">
                          <a:solidFill>
                            <a:srgbClr val="1A1A1A"/>
                          </a:solidFill>
                          <a:latin typeface="Calibri"/>
                        </a:rPr>
                        <a:t>minimization iters per ramp stage</a:t>
                      </a:r>
                    </a:p>
                  </a:txBody>
                  <a:tcPr>
                    <a:solidFill>
                      <a:srgbClr val="F2F4F6"/>
                    </a:solidFill>
                  </a:tcPr>
                </a:tc>
              </a:tr>
              <a:tr h="465512">
                <a:tc>
                  <a:txBody>
                    <a:bodyPr/>
                    <a:lstStyle/>
                    <a:p>
                      <a:r>
                        <a:rPr sz="1050" b="0" i="0">
                          <a:solidFill>
                            <a:srgbClr val="1A1A1A"/>
                          </a:solidFill>
                          <a:latin typeface="Consolas"/>
                        </a:rPr>
                        <a:t>--final-iterations</a:t>
                      </a:r>
                    </a:p>
                  </a:txBody>
                  <a:tcPr>
                    <a:solidFill>
                      <a:srgbClr val="FFFFFF"/>
                    </a:solidFill>
                  </a:tcPr>
                </a:tc>
                <a:tc>
                  <a:txBody>
                    <a:bodyPr/>
                    <a:lstStyle/>
                    <a:p>
                      <a:r>
                        <a:rPr sz="1050" b="0" i="0">
                          <a:solidFill>
                            <a:srgbClr val="1A1A1A"/>
                          </a:solidFill>
                          <a:latin typeface="Consolas"/>
                        </a:rPr>
                        <a:t>10000</a:t>
                      </a:r>
                    </a:p>
                  </a:txBody>
                  <a:tcPr>
                    <a:solidFill>
                      <a:srgbClr val="FFFFFF"/>
                    </a:solidFill>
                  </a:tcPr>
                </a:tc>
                <a:tc>
                  <a:txBody>
                    <a:bodyPr/>
                    <a:lstStyle/>
                    <a:p>
                      <a:r>
                        <a:rPr sz="1050" b="0" i="0">
                          <a:solidFill>
                            <a:srgbClr val="1A1A1A"/>
                          </a:solidFill>
                          <a:latin typeface="Calibri"/>
                        </a:rPr>
                        <a:t>Phase-2 final minimization iters</a:t>
                      </a:r>
                    </a:p>
                  </a:txBody>
                  <a:tcPr>
                    <a:solidFill>
                      <a:srgbClr val="FFFFFF"/>
                    </a:solidFill>
                  </a:tcPr>
                </a:tc>
              </a:tr>
              <a:tr h="465512">
                <a:tc>
                  <a:txBody>
                    <a:bodyPr/>
                    <a:lstStyle/>
                    <a:p>
                      <a:r>
                        <a:rPr sz="1050" b="0" i="0">
                          <a:solidFill>
                            <a:srgbClr val="1A1A1A"/>
                          </a:solidFill>
                          <a:latin typeface="Consolas"/>
                        </a:rPr>
                        <a:t>--ignore-metals</a:t>
                      </a:r>
                    </a:p>
                  </a:txBody>
                  <a:tcPr>
                    <a:solidFill>
                      <a:srgbClr val="F2F4F6"/>
                    </a:solidFill>
                  </a:tcPr>
                </a:tc>
                <a:tc>
                  <a:txBody>
                    <a:bodyPr/>
                    <a:lstStyle/>
                    <a:p>
                      <a:r>
                        <a:rPr sz="1050" b="0" i="0">
                          <a:solidFill>
                            <a:srgbClr val="1A1A1A"/>
                          </a:solidFill>
                          <a:latin typeface="Consolas"/>
                        </a:rPr>
                        <a:t>off</a:t>
                      </a:r>
                    </a:p>
                  </a:txBody>
                  <a:tcPr>
                    <a:solidFill>
                      <a:srgbClr val="F2F4F6"/>
                    </a:solidFill>
                  </a:tcPr>
                </a:tc>
                <a:tc>
                  <a:txBody>
                    <a:bodyPr/>
                    <a:lstStyle/>
                    <a:p>
                      <a:r>
                        <a:rPr sz="1050" b="0" i="0">
                          <a:solidFill>
                            <a:srgbClr val="1A1A1A"/>
                          </a:solidFill>
                          <a:latin typeface="Calibri"/>
                        </a:rPr>
                        <a:t>disable the cage (Ch.19 A/B 'cage-OFF' / legacy arm)</a:t>
                      </a:r>
                    </a:p>
                  </a:txBody>
                  <a:tcPr>
                    <a:solidFill>
                      <a:srgbClr val="F2F4F6"/>
                    </a:solidFill>
                  </a:tcPr>
                </a:tc>
              </a:tr>
              <a:tr h="465520">
                <a:tc>
                  <a:txBody>
                    <a:bodyPr/>
                    <a:lstStyle/>
                    <a:p>
                      <a:r>
                        <a:rPr sz="1050" b="0" i="0">
                          <a:solidFill>
                            <a:srgbClr val="1A1A1A"/>
                          </a:solidFill>
                          <a:latin typeface="Consolas"/>
                        </a:rPr>
                        <a:t>--scratch-dir</a:t>
                      </a:r>
                    </a:p>
                  </a:txBody>
                  <a:tcPr>
                    <a:solidFill>
                      <a:srgbClr val="FFFFFF"/>
                    </a:solidFill>
                  </a:tcPr>
                </a:tc>
                <a:tc>
                  <a:txBody>
                    <a:bodyPr/>
                    <a:lstStyle/>
                    <a:p>
                      <a:r>
                        <a:rPr sz="1050" b="0" i="0">
                          <a:solidFill>
                            <a:srgbClr val="1A1A1A"/>
                          </a:solidFill>
                          <a:latin typeface="Consolas"/>
                        </a:rPr>
                        <a:t>/scratch1/shewchuk/deeppbs_min_tmp</a:t>
                      </a:r>
                    </a:p>
                  </a:txBody>
                  <a:tcPr>
                    <a:solidFill>
                      <a:srgbClr val="FFFFFF"/>
                    </a:solidFill>
                  </a:tcPr>
                </a:tc>
                <a:tc>
                  <a:txBody>
                    <a:bodyPr/>
                    <a:lstStyle/>
                    <a:p>
                      <a:r>
                        <a:rPr sz="1050" b="0" i="0">
                          <a:solidFill>
                            <a:srgbClr val="1A1A1A"/>
                          </a:solidFill>
                          <a:latin typeface="Calibri"/>
                        </a:rPr>
                        <a:t>scratch workdir</a:t>
                      </a:r>
                    </a:p>
                  </a:txBody>
                  <a:tcPr>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822960"/>
          </a:xfrm>
          <a:prstGeom prst="rect">
            <a:avLst/>
          </a:prstGeom>
          <a:noFill/>
        </p:spPr>
        <p:txBody>
          <a:bodyPr wrap="square">
            <a:spAutoFit/>
          </a:bodyPr>
          <a:lstStyle/>
          <a:p>
            <a:r>
              <a:rPr sz="2600" b="1" i="0">
                <a:solidFill>
                  <a:srgbClr val="1A1A1A"/>
                </a:solidFill>
                <a:latin typeface="Calibri"/>
              </a:rPr>
              <a:t>Runbook · config knobs, I/O, and the cluster</a:t>
            </a:r>
          </a:p>
        </p:txBody>
      </p:sp>
      <p:sp>
        <p:nvSpPr>
          <p:cNvPr id="4" name="TextBox 3"/>
          <p:cNvSpPr txBox="1"/>
          <p:nvPr/>
        </p:nvSpPr>
        <p:spPr>
          <a:xfrm>
            <a:off x="640080" y="1371600"/>
            <a:ext cx="10972800" cy="5120640"/>
          </a:xfrm>
          <a:prstGeom prst="rect">
            <a:avLst/>
          </a:prstGeom>
          <a:noFill/>
        </p:spPr>
        <p:txBody>
          <a:bodyPr wrap="square">
            <a:spAutoFit/>
          </a:bodyPr>
          <a:lstStyle/>
          <a:p>
            <a:pPr>
              <a:spcAft>
                <a:spcPts val="400"/>
              </a:spcAft>
            </a:pPr>
            <a:r>
              <a:rPr sz="1600" b="1" i="0">
                <a:solidFill>
                  <a:srgbClr val="1A1A1A"/>
                </a:solidFill>
                <a:latin typeface="Calibri"/>
              </a:rPr>
              <a:t>• Pilot-config knobs (&lt;tf&gt;.sh):</a:t>
            </a:r>
          </a:p>
          <a:p>
            <a:pPr lvl="1">
              <a:spcAft>
                <a:spcPts val="400"/>
              </a:spcAft>
            </a:pPr>
            <a:r>
              <a:rPr sz="1200" b="0" i="0">
                <a:solidFill>
                  <a:srgbClr val="6B6B6B"/>
                </a:solidFill>
                <a:latin typeface="Consolas"/>
              </a:rPr>
              <a:t>– RAMP_STAGES · STEPS_PER_STAGE · N_FRAMES (array size)</a:t>
            </a:r>
          </a:p>
          <a:p>
            <a:pPr lvl="1">
              <a:spcAft>
                <a:spcPts val="400"/>
              </a:spcAft>
            </a:pPr>
            <a:r>
              <a:rPr sz="1200" b="0" i="0">
                <a:solidFill>
                  <a:srgbClr val="6B6B6B"/>
                </a:solidFill>
                <a:latin typeface="Consolas"/>
              </a:rPr>
              <a:t>– RECOVERY_RAMP_STAGES=0.05,0.1,0.2,0.4,0.7,1.0 · RECOVERY_STEPS_PER_STAGE=1000</a:t>
            </a:r>
          </a:p>
          <a:p>
            <a:pPr lvl="1">
              <a:spcAft>
                <a:spcPts val="400"/>
              </a:spcAft>
            </a:pPr>
            <a:r>
              <a:rPr sz="1200" b="0" i="0">
                <a:solidFill>
                  <a:srgbClr val="6B6B6B"/>
                </a:solidFill>
                <a:latin typeface="Consolas"/>
              </a:rPr>
              <a:t>– relaxed: STAGE3_DNA_RESTRAINT_K / STAGE3_DNA_RELEASE_STAGE · cage-off: STAGE3_IGNORE_METALS=1</a:t>
            </a:r>
          </a:p>
          <a:p>
            <a:pPr>
              <a:spcAft>
                <a:spcPts val="400"/>
              </a:spcAft>
            </a:pPr>
            <a:r>
              <a:rPr sz="1600" b="1" i="0">
                <a:solidFill>
                  <a:srgbClr val="1A1A1A"/>
                </a:solidFill>
                <a:latin typeface="Calibri"/>
              </a:rPr>
              <a:t>• I/O:</a:t>
            </a:r>
          </a:p>
          <a:p>
            <a:pPr lvl="1">
              <a:spcAft>
                <a:spcPts val="400"/>
              </a:spcAft>
            </a:pPr>
            <a:r>
              <a:rPr sz="1200" b="0" i="0">
                <a:solidFill>
                  <a:srgbClr val="6B6B6B"/>
                </a:solidFill>
                <a:latin typeface="Consolas"/>
              </a:rPr>
              <a:t>– in: output/stage2_docked/&lt;tf&gt;/&lt;pdb&gt;_state_NNN.pdb</a:t>
            </a:r>
          </a:p>
          <a:p>
            <a:pPr lvl="1">
              <a:spcAft>
                <a:spcPts val="400"/>
              </a:spcAft>
            </a:pPr>
            <a:r>
              <a:rPr sz="1200" b="0" i="0">
                <a:solidFill>
                  <a:srgbClr val="6B6B6B"/>
                </a:solidFill>
                <a:latin typeface="Consolas"/>
              </a:rPr>
              <a:t>– out: output/stage3_min[_dnarelax]/&lt;tf&gt;/&lt;pdb&gt;_state_NNN.pdb  +  &lt;pdb&gt;_fnat.csv</a:t>
            </a:r>
          </a:p>
          <a:p>
            <a:pPr lvl="1">
              <a:spcAft>
                <a:spcPts val="400"/>
              </a:spcAft>
            </a:pPr>
            <a:r>
              <a:rPr sz="1200" b="0" i="0">
                <a:solidFill>
                  <a:srgbClr val="6B6B6B"/>
                </a:solidFill>
                <a:latin typeface="Calibri"/>
              </a:rPr>
              <a:t>– variants tracked downstream: metal_cage (canonical) &amp; legacy (cage-off) in per_state_rmsds.csv</a:t>
            </a:r>
          </a:p>
          <a:p>
            <a:pPr>
              <a:spcAft>
                <a:spcPts val="400"/>
              </a:spcAft>
            </a:pPr>
            <a:r>
              <a:rPr sz="1600" b="1" i="0">
                <a:solidFill>
                  <a:srgbClr val="2E7FA8"/>
                </a:solidFill>
                <a:latin typeface="Calibri"/>
              </a:rPr>
              <a:t>• Cluster: endeavour · rohs / rohs_102 · --gres=gpu:rtx5000:1 · env = bioemu</a:t>
            </a:r>
          </a:p>
          <a:p>
            <a:pPr lvl="1">
              <a:spcAft>
                <a:spcPts val="400"/>
              </a:spcAft>
            </a:pPr>
            <a:r>
              <a:rPr sz="1200" b="0" i="0">
                <a:solidFill>
                  <a:srgbClr val="D1495B"/>
                </a:solidFill>
                <a:latin typeface="Calibri"/>
              </a:rPr>
              <a:t>– login-node gotcha: cap BLAS threads (OPENBLAS/OMP/MKL_NUM_THREADS=1) before login-node python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822960"/>
          </a:xfrm>
          <a:prstGeom prst="rect">
            <a:avLst/>
          </a:prstGeom>
          <a:noFill/>
        </p:spPr>
        <p:txBody>
          <a:bodyPr wrap="square">
            <a:spAutoFit/>
          </a:bodyPr>
          <a:lstStyle/>
          <a:p>
            <a:r>
              <a:rPr sz="2600" b="1" i="0">
                <a:solidFill>
                  <a:srgbClr val="1A1A1A"/>
                </a:solidFill>
                <a:latin typeface="Calibri"/>
              </a:rPr>
              <a:t>Coverage — 13 pilots discovered on disk</a:t>
            </a:r>
          </a:p>
        </p:txBody>
      </p:sp>
      <p:sp>
        <p:nvSpPr>
          <p:cNvPr id="4" name="TextBox 3"/>
          <p:cNvSpPr txBox="1"/>
          <p:nvPr/>
        </p:nvSpPr>
        <p:spPr>
          <a:xfrm>
            <a:off x="640080" y="1371600"/>
            <a:ext cx="10972800" cy="5120640"/>
          </a:xfrm>
          <a:prstGeom prst="rect">
            <a:avLst/>
          </a:prstGeom>
          <a:noFill/>
        </p:spPr>
        <p:txBody>
          <a:bodyPr wrap="square">
            <a:spAutoFit/>
          </a:bodyPr>
          <a:lstStyle/>
          <a:p>
            <a:pPr>
              <a:spcAft>
                <a:spcPts val="400"/>
              </a:spcAft>
            </a:pPr>
            <a:r>
              <a:rPr sz="1400" b="1" i="0">
                <a:solidFill>
                  <a:srgbClr val="1A1A1A"/>
                </a:solidFill>
                <a:latin typeface="Consolas"/>
              </a:rPr>
              <a:t>• csl · dux4 · egr1 · engrailed · err · ets1 · foxa · hsf · irf · lef1 · nfat · runx · tbp</a:t>
            </a:r>
          </a:p>
          <a:p>
            <a:pPr>
              <a:spcAft>
                <a:spcPts val="400"/>
              </a:spcAft>
            </a:pPr>
            <a:r>
              <a:rPr sz="1600" b="0" i="0">
                <a:solidFill>
                  <a:srgbClr val="2E7FA8"/>
                </a:solidFill>
                <a:latin typeface="Calibri"/>
              </a:rPr>
              <a:t>• Structural fidelity (R1/R2/R3, reachability): all 13</a:t>
            </a:r>
          </a:p>
          <a:p>
            <a:pPr lvl="1">
              <a:spcAft>
                <a:spcPts val="400"/>
              </a:spcAft>
            </a:pPr>
            <a:r>
              <a:rPr sz="1300" b="0" i="0">
                <a:solidFill>
                  <a:srgbClr val="6B6B6B"/>
                </a:solidFill>
                <a:latin typeface="Calibri"/>
              </a:rPr>
              <a:t>– dux4 has 0 fnat survivors — the excluded dimer, shown as the 0% reference</a:t>
            </a:r>
          </a:p>
          <a:p>
            <a:pPr>
              <a:spcAft>
                <a:spcPts val="400"/>
              </a:spcAft>
            </a:pPr>
            <a:r>
              <a:rPr sz="1600" b="0" i="0">
                <a:solidFill>
                  <a:srgbClr val="1A1A1A"/>
                </a:solidFill>
                <a:latin typeface="Calibri"/>
              </a:rPr>
              <a:t>• Benchmark accuracy (baseline vs augmented): 12 pilots (all but dux4 — no eval)</a:t>
            </a:r>
          </a:p>
          <a:p>
            <a:pPr>
              <a:spcAft>
                <a:spcPts val="400"/>
              </a:spcAft>
            </a:pPr>
            <a:r>
              <a:rPr sz="1600" b="0" i="0">
                <a:solidFill>
                  <a:srgbClr val="D1495B"/>
                </a:solidFill>
                <a:latin typeface="Calibri"/>
              </a:rPr>
              <a:t>• DNA-relaxed Stage-3 output: 7 pilots have data · 2 trained · 1 evaluated</a:t>
            </a:r>
          </a:p>
          <a:p>
            <a:pPr lvl="1">
              <a:spcAft>
                <a:spcPts val="400"/>
              </a:spcAft>
            </a:pPr>
            <a:r>
              <a:rPr sz="1300" b="0" i="0">
                <a:solidFill>
                  <a:srgbClr val="6B6B6B"/>
                </a:solidFill>
                <a:latin typeface="Calibri"/>
              </a:rPr>
              <a:t>– tbp_dnarelax — itself slightly worse than frozen tbp; the relaxation story is directional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822960"/>
          </a:xfrm>
          <a:prstGeom prst="rect">
            <a:avLst/>
          </a:prstGeom>
          <a:noFill/>
        </p:spPr>
        <p:txBody>
          <a:bodyPr wrap="square">
            <a:spAutoFit/>
          </a:bodyPr>
          <a:lstStyle/>
          <a:p>
            <a:r>
              <a:rPr sz="2600" b="1" i="0">
                <a:solidFill>
                  <a:srgbClr val="1A1A1A"/>
                </a:solidFill>
                <a:latin typeface="Calibri"/>
              </a:rPr>
              <a:t>Chapter 9 in one slide</a:t>
            </a:r>
          </a:p>
        </p:txBody>
      </p:sp>
      <p:sp>
        <p:nvSpPr>
          <p:cNvPr id="4" name="TextBox 3"/>
          <p:cNvSpPr txBox="1"/>
          <p:nvPr/>
        </p:nvSpPr>
        <p:spPr>
          <a:xfrm>
            <a:off x="640080" y="1371600"/>
            <a:ext cx="10972800" cy="5120640"/>
          </a:xfrm>
          <a:prstGeom prst="rect">
            <a:avLst/>
          </a:prstGeom>
          <a:noFill/>
        </p:spPr>
        <p:txBody>
          <a:bodyPr wrap="square">
            <a:spAutoFit/>
          </a:bodyPr>
          <a:lstStyle/>
          <a:p>
            <a:pPr>
              <a:spcAft>
                <a:spcPts val="400"/>
              </a:spcAft>
            </a:pPr>
            <a:r>
              <a:rPr sz="1600" b="1" i="0">
                <a:solidFill>
                  <a:srgbClr val="1A1A1A"/>
                </a:solidFill>
                <a:latin typeface="Calibri"/>
              </a:rPr>
              <a:t>• Stage 3 relaxes docked strain WITHOUT losing the bound pose — 'relax the strain, preserve the pose'</a:t>
            </a:r>
          </a:p>
          <a:p>
            <a:pPr>
              <a:spcAft>
                <a:spcPts val="400"/>
              </a:spcAft>
            </a:pPr>
            <a:r>
              <a:rPr sz="1600" b="0" i="0">
                <a:solidFill>
                  <a:srgbClr val="1A1A1A"/>
                </a:solidFill>
                <a:latin typeface="Calibri"/>
              </a:rPr>
              <a:t>• Force field: ff14SB + GB-Neck2 implicit solvent (→ the over-compaction caveat)</a:t>
            </a:r>
          </a:p>
          <a:p>
            <a:pPr>
              <a:spcAft>
                <a:spcPts val="400"/>
              </a:spcAft>
            </a:pPr>
            <a:r>
              <a:rPr sz="1600" b="0" i="0">
                <a:solidFill>
                  <a:srgbClr val="1A1A1A"/>
                </a:solidFill>
                <a:latin typeface="Calibri"/>
              </a:rPr>
              <a:t>• Restraints: backbone pinned at k=10, side chains free → local relaxation, global placement held</a:t>
            </a:r>
          </a:p>
          <a:p>
            <a:pPr>
              <a:spcAft>
                <a:spcPts val="400"/>
              </a:spcAft>
            </a:pPr>
            <a:r>
              <a:rPr sz="1600" b="0" i="0">
                <a:solidFill>
                  <a:srgbClr val="1A1A1A"/>
                </a:solidFill>
                <a:latin typeface="Calibri"/>
              </a:rPr>
              <a:t>• Metal cage: restrain the geometry, not the ion — pairwise bonds at k=20, no metal in the system</a:t>
            </a:r>
          </a:p>
          <a:p>
            <a:pPr>
              <a:spcAft>
                <a:spcPts val="400"/>
              </a:spcAft>
            </a:pPr>
            <a:r>
              <a:rPr sz="1600" b="0" i="0">
                <a:solidFill>
                  <a:srgbClr val="1A1A1A"/>
                </a:solidFill>
                <a:latin typeface="Calibri"/>
              </a:rPr>
              <a:t>• Three-phase ramp: H-only → vdW σ 0.1→1.0 → final; gentle where one hard min diverges</a:t>
            </a:r>
          </a:p>
          <a:p>
            <a:pPr>
              <a:spcAft>
                <a:spcPts val="400"/>
              </a:spcAft>
            </a:pPr>
            <a:r>
              <a:rPr sz="1600" b="1" i="0">
                <a:solidFill>
                  <a:srgbClr val="2E7FA8"/>
                </a:solidFill>
                <a:latin typeface="Calibri"/>
              </a:rPr>
              <a:t>• DNA knob: frozen (k=10) vs relaxed (k_dna=1.5, late release) — defines what augmentation tests</a:t>
            </a:r>
          </a:p>
          <a:p>
            <a:pPr>
              <a:spcAft>
                <a:spcPts val="400"/>
              </a:spcAft>
            </a:pPr>
            <a:r>
              <a:rPr sz="1300" b="0" i="1">
                <a:solidFill>
                  <a:srgbClr val="6B6B6B"/>
                </a:solidFill>
                <a:latin typeface="Calibri"/>
              </a:rPr>
              <a:t>• All verified against stage3_minimize.py; engine + wrappers saved as reference artifacts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